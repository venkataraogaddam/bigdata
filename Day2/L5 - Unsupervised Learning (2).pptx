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6" r:id="rId4"/>
    <p:sldId id="258" r:id="rId5"/>
    <p:sldId id="259" r:id="rId6"/>
    <p:sldId id="260" r:id="rId7"/>
    <p:sldId id="275" r:id="rId8"/>
    <p:sldId id="261" r:id="rId9"/>
    <p:sldId id="262" r:id="rId10"/>
    <p:sldId id="264" r:id="rId11"/>
    <p:sldId id="265" r:id="rId12"/>
    <p:sldId id="273" r:id="rId13"/>
    <p:sldId id="266" r:id="rId14"/>
    <p:sldId id="267" r:id="rId15"/>
    <p:sldId id="268" r:id="rId16"/>
    <p:sldId id="269" r:id="rId17"/>
    <p:sldId id="272" r:id="rId18"/>
    <p:sldId id="270" r:id="rId19"/>
    <p:sldId id="27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BC2DA1-8C1F-4A13-A390-CE8A25ED2AF2}"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6B668774-EF7E-4A33-B3B1-00E0FF88D4F0}">
      <dgm:prSet/>
      <dgm:spPr/>
      <dgm:t>
        <a:bodyPr/>
        <a:lstStyle/>
        <a:p>
          <a:r>
            <a:rPr lang="en-GB"/>
            <a:t>Anomaly Detection</a:t>
          </a:r>
          <a:endParaRPr lang="en-US"/>
        </a:p>
      </dgm:t>
    </dgm:pt>
    <dgm:pt modelId="{2BEBA251-CE07-461C-ACCC-33B9FBF89BFC}" type="parTrans" cxnId="{075DF263-9724-40BD-A201-334CEB73268E}">
      <dgm:prSet/>
      <dgm:spPr/>
      <dgm:t>
        <a:bodyPr/>
        <a:lstStyle/>
        <a:p>
          <a:endParaRPr lang="en-US"/>
        </a:p>
      </dgm:t>
    </dgm:pt>
    <dgm:pt modelId="{3BFB89F9-08DE-4A1D-997E-3AD2516D44B7}" type="sibTrans" cxnId="{075DF263-9724-40BD-A201-334CEB73268E}">
      <dgm:prSet/>
      <dgm:spPr/>
      <dgm:t>
        <a:bodyPr/>
        <a:lstStyle/>
        <a:p>
          <a:endParaRPr lang="en-US"/>
        </a:p>
      </dgm:t>
    </dgm:pt>
    <dgm:pt modelId="{D30D67DE-19E1-45CE-BB90-4BFDB68E392A}">
      <dgm:prSet/>
      <dgm:spPr/>
      <dgm:t>
        <a:bodyPr/>
        <a:lstStyle/>
        <a:p>
          <a:r>
            <a:rPr lang="en-GB"/>
            <a:t>Customer Segmentation and Behavioural Analysis</a:t>
          </a:r>
          <a:endParaRPr lang="en-US"/>
        </a:p>
      </dgm:t>
    </dgm:pt>
    <dgm:pt modelId="{672AAED3-6B6F-432F-BC2C-07BC29A65B0A}" type="parTrans" cxnId="{E9183F96-3B7B-4132-9693-C8E025BDF98D}">
      <dgm:prSet/>
      <dgm:spPr/>
      <dgm:t>
        <a:bodyPr/>
        <a:lstStyle/>
        <a:p>
          <a:endParaRPr lang="en-US"/>
        </a:p>
      </dgm:t>
    </dgm:pt>
    <dgm:pt modelId="{C34FF4CF-DF04-4BDC-AC92-3B6C86A90DA8}" type="sibTrans" cxnId="{E9183F96-3B7B-4132-9693-C8E025BDF98D}">
      <dgm:prSet/>
      <dgm:spPr/>
      <dgm:t>
        <a:bodyPr/>
        <a:lstStyle/>
        <a:p>
          <a:endParaRPr lang="en-US"/>
        </a:p>
      </dgm:t>
    </dgm:pt>
    <dgm:pt modelId="{0ABA9893-AA61-4FB3-BDDC-B48D827594B1}">
      <dgm:prSet/>
      <dgm:spPr/>
      <dgm:t>
        <a:bodyPr/>
        <a:lstStyle/>
        <a:p>
          <a:r>
            <a:rPr lang="en-GB"/>
            <a:t>Recommendation Systems</a:t>
          </a:r>
          <a:endParaRPr lang="en-US"/>
        </a:p>
      </dgm:t>
    </dgm:pt>
    <dgm:pt modelId="{23B1C845-214D-4FB1-B4E2-48E18ADBF023}" type="parTrans" cxnId="{6481B02E-2E3A-4D33-AE60-A25B02D3878B}">
      <dgm:prSet/>
      <dgm:spPr/>
      <dgm:t>
        <a:bodyPr/>
        <a:lstStyle/>
        <a:p>
          <a:endParaRPr lang="en-US"/>
        </a:p>
      </dgm:t>
    </dgm:pt>
    <dgm:pt modelId="{886D11C8-96A4-4714-B462-70D64BBC367B}" type="sibTrans" cxnId="{6481B02E-2E3A-4D33-AE60-A25B02D3878B}">
      <dgm:prSet/>
      <dgm:spPr/>
      <dgm:t>
        <a:bodyPr/>
        <a:lstStyle/>
        <a:p>
          <a:endParaRPr lang="en-US"/>
        </a:p>
      </dgm:t>
    </dgm:pt>
    <dgm:pt modelId="{992DB812-205E-48AE-B2BE-FA58A789AFAC}">
      <dgm:prSet/>
      <dgm:spPr/>
      <dgm:t>
        <a:bodyPr/>
        <a:lstStyle/>
        <a:p>
          <a:r>
            <a:rPr lang="en-GB"/>
            <a:t>Image and Video Data Compression</a:t>
          </a:r>
          <a:endParaRPr lang="en-US"/>
        </a:p>
      </dgm:t>
    </dgm:pt>
    <dgm:pt modelId="{DD5C8E00-CB2E-4056-9A0F-A6F1579695C4}" type="parTrans" cxnId="{F21F3F8B-282F-4CBF-84F3-F02DC544C51C}">
      <dgm:prSet/>
      <dgm:spPr/>
      <dgm:t>
        <a:bodyPr/>
        <a:lstStyle/>
        <a:p>
          <a:endParaRPr lang="en-US"/>
        </a:p>
      </dgm:t>
    </dgm:pt>
    <dgm:pt modelId="{B75586D9-70BA-47B1-AFDA-60C58FEBC4FC}" type="sibTrans" cxnId="{F21F3F8B-282F-4CBF-84F3-F02DC544C51C}">
      <dgm:prSet/>
      <dgm:spPr/>
      <dgm:t>
        <a:bodyPr/>
        <a:lstStyle/>
        <a:p>
          <a:endParaRPr lang="en-US"/>
        </a:p>
      </dgm:t>
    </dgm:pt>
    <dgm:pt modelId="{CE267D0A-AB66-462C-8B84-16E6E9DB6C48}">
      <dgm:prSet/>
      <dgm:spPr/>
      <dgm:t>
        <a:bodyPr/>
        <a:lstStyle/>
        <a:p>
          <a:r>
            <a:rPr lang="en-GB"/>
            <a:t>Natural Language Processing (NLP)</a:t>
          </a:r>
          <a:endParaRPr lang="en-US"/>
        </a:p>
      </dgm:t>
    </dgm:pt>
    <dgm:pt modelId="{B0615A61-2E4F-47EA-A07E-818A6C0CF1E6}" type="parTrans" cxnId="{225AC2E7-9CE6-4079-AEE5-03CFA9308561}">
      <dgm:prSet/>
      <dgm:spPr/>
      <dgm:t>
        <a:bodyPr/>
        <a:lstStyle/>
        <a:p>
          <a:endParaRPr lang="en-US"/>
        </a:p>
      </dgm:t>
    </dgm:pt>
    <dgm:pt modelId="{A3FDD9BD-B822-4CC6-9C6F-89BC9FD1F6E5}" type="sibTrans" cxnId="{225AC2E7-9CE6-4079-AEE5-03CFA9308561}">
      <dgm:prSet/>
      <dgm:spPr/>
      <dgm:t>
        <a:bodyPr/>
        <a:lstStyle/>
        <a:p>
          <a:endParaRPr lang="en-US"/>
        </a:p>
      </dgm:t>
    </dgm:pt>
    <dgm:pt modelId="{A4C9E719-E909-4565-B777-A28C4B041E3D}" type="pres">
      <dgm:prSet presAssocID="{EFBC2DA1-8C1F-4A13-A390-CE8A25ED2AF2}" presName="diagram" presStyleCnt="0">
        <dgm:presLayoutVars>
          <dgm:dir/>
          <dgm:resizeHandles val="exact"/>
        </dgm:presLayoutVars>
      </dgm:prSet>
      <dgm:spPr/>
    </dgm:pt>
    <dgm:pt modelId="{37C02AC0-8BBB-4463-BBFF-2DA7FD2A3FDD}" type="pres">
      <dgm:prSet presAssocID="{6B668774-EF7E-4A33-B3B1-00E0FF88D4F0}" presName="node" presStyleLbl="node1" presStyleIdx="0" presStyleCnt="5">
        <dgm:presLayoutVars>
          <dgm:bulletEnabled val="1"/>
        </dgm:presLayoutVars>
      </dgm:prSet>
      <dgm:spPr/>
    </dgm:pt>
    <dgm:pt modelId="{D3FF7605-3777-4946-818E-6F0A6585BA90}" type="pres">
      <dgm:prSet presAssocID="{3BFB89F9-08DE-4A1D-997E-3AD2516D44B7}" presName="sibTrans" presStyleCnt="0"/>
      <dgm:spPr/>
    </dgm:pt>
    <dgm:pt modelId="{D511CD0E-4314-480C-B812-03D1D12A85C3}" type="pres">
      <dgm:prSet presAssocID="{D30D67DE-19E1-45CE-BB90-4BFDB68E392A}" presName="node" presStyleLbl="node1" presStyleIdx="1" presStyleCnt="5">
        <dgm:presLayoutVars>
          <dgm:bulletEnabled val="1"/>
        </dgm:presLayoutVars>
      </dgm:prSet>
      <dgm:spPr/>
    </dgm:pt>
    <dgm:pt modelId="{66466743-1C70-461E-803E-483AFD8DED59}" type="pres">
      <dgm:prSet presAssocID="{C34FF4CF-DF04-4BDC-AC92-3B6C86A90DA8}" presName="sibTrans" presStyleCnt="0"/>
      <dgm:spPr/>
    </dgm:pt>
    <dgm:pt modelId="{97235CF3-EBB9-4F75-961D-C4CA65EF9BCD}" type="pres">
      <dgm:prSet presAssocID="{0ABA9893-AA61-4FB3-BDDC-B48D827594B1}" presName="node" presStyleLbl="node1" presStyleIdx="2" presStyleCnt="5">
        <dgm:presLayoutVars>
          <dgm:bulletEnabled val="1"/>
        </dgm:presLayoutVars>
      </dgm:prSet>
      <dgm:spPr/>
    </dgm:pt>
    <dgm:pt modelId="{975B2283-05A1-4F94-8673-91CA43EDDE08}" type="pres">
      <dgm:prSet presAssocID="{886D11C8-96A4-4714-B462-70D64BBC367B}" presName="sibTrans" presStyleCnt="0"/>
      <dgm:spPr/>
    </dgm:pt>
    <dgm:pt modelId="{78B47A4B-DD5B-4A60-AC4E-816BB3F05809}" type="pres">
      <dgm:prSet presAssocID="{992DB812-205E-48AE-B2BE-FA58A789AFAC}" presName="node" presStyleLbl="node1" presStyleIdx="3" presStyleCnt="5">
        <dgm:presLayoutVars>
          <dgm:bulletEnabled val="1"/>
        </dgm:presLayoutVars>
      </dgm:prSet>
      <dgm:spPr/>
    </dgm:pt>
    <dgm:pt modelId="{6D7815AB-1086-4434-A8BF-BF43C21CE1C8}" type="pres">
      <dgm:prSet presAssocID="{B75586D9-70BA-47B1-AFDA-60C58FEBC4FC}" presName="sibTrans" presStyleCnt="0"/>
      <dgm:spPr/>
    </dgm:pt>
    <dgm:pt modelId="{33F8FE76-78A7-4FF0-9E30-B321E49FB0D2}" type="pres">
      <dgm:prSet presAssocID="{CE267D0A-AB66-462C-8B84-16E6E9DB6C48}" presName="node" presStyleLbl="node1" presStyleIdx="4" presStyleCnt="5">
        <dgm:presLayoutVars>
          <dgm:bulletEnabled val="1"/>
        </dgm:presLayoutVars>
      </dgm:prSet>
      <dgm:spPr/>
    </dgm:pt>
  </dgm:ptLst>
  <dgm:cxnLst>
    <dgm:cxn modelId="{B7490A06-233C-4556-BED3-5B1219140F35}" type="presOf" srcId="{992DB812-205E-48AE-B2BE-FA58A789AFAC}" destId="{78B47A4B-DD5B-4A60-AC4E-816BB3F05809}" srcOrd="0" destOrd="0" presId="urn:microsoft.com/office/officeart/2005/8/layout/default"/>
    <dgm:cxn modelId="{B2D75A15-A6A9-4812-8211-2E1F1062CB70}" type="presOf" srcId="{D30D67DE-19E1-45CE-BB90-4BFDB68E392A}" destId="{D511CD0E-4314-480C-B812-03D1D12A85C3}" srcOrd="0" destOrd="0" presId="urn:microsoft.com/office/officeart/2005/8/layout/default"/>
    <dgm:cxn modelId="{6DC8B221-7583-4935-B5A3-3D92AA9DF928}" type="presOf" srcId="{6B668774-EF7E-4A33-B3B1-00E0FF88D4F0}" destId="{37C02AC0-8BBB-4463-BBFF-2DA7FD2A3FDD}" srcOrd="0" destOrd="0" presId="urn:microsoft.com/office/officeart/2005/8/layout/default"/>
    <dgm:cxn modelId="{BED74622-AFCB-47FF-B2F6-6DED9BBCC506}" type="presOf" srcId="{EFBC2DA1-8C1F-4A13-A390-CE8A25ED2AF2}" destId="{A4C9E719-E909-4565-B777-A28C4B041E3D}" srcOrd="0" destOrd="0" presId="urn:microsoft.com/office/officeart/2005/8/layout/default"/>
    <dgm:cxn modelId="{D7892728-3452-4648-8949-83782209179B}" type="presOf" srcId="{0ABA9893-AA61-4FB3-BDDC-B48D827594B1}" destId="{97235CF3-EBB9-4F75-961D-C4CA65EF9BCD}" srcOrd="0" destOrd="0" presId="urn:microsoft.com/office/officeart/2005/8/layout/default"/>
    <dgm:cxn modelId="{6481B02E-2E3A-4D33-AE60-A25B02D3878B}" srcId="{EFBC2DA1-8C1F-4A13-A390-CE8A25ED2AF2}" destId="{0ABA9893-AA61-4FB3-BDDC-B48D827594B1}" srcOrd="2" destOrd="0" parTransId="{23B1C845-214D-4FB1-B4E2-48E18ADBF023}" sibTransId="{886D11C8-96A4-4714-B462-70D64BBC367B}"/>
    <dgm:cxn modelId="{075DF263-9724-40BD-A201-334CEB73268E}" srcId="{EFBC2DA1-8C1F-4A13-A390-CE8A25ED2AF2}" destId="{6B668774-EF7E-4A33-B3B1-00E0FF88D4F0}" srcOrd="0" destOrd="0" parTransId="{2BEBA251-CE07-461C-ACCC-33B9FBF89BFC}" sibTransId="{3BFB89F9-08DE-4A1D-997E-3AD2516D44B7}"/>
    <dgm:cxn modelId="{29F00259-C370-41F5-8165-2C55B03967EC}" type="presOf" srcId="{CE267D0A-AB66-462C-8B84-16E6E9DB6C48}" destId="{33F8FE76-78A7-4FF0-9E30-B321E49FB0D2}" srcOrd="0" destOrd="0" presId="urn:microsoft.com/office/officeart/2005/8/layout/default"/>
    <dgm:cxn modelId="{F21F3F8B-282F-4CBF-84F3-F02DC544C51C}" srcId="{EFBC2DA1-8C1F-4A13-A390-CE8A25ED2AF2}" destId="{992DB812-205E-48AE-B2BE-FA58A789AFAC}" srcOrd="3" destOrd="0" parTransId="{DD5C8E00-CB2E-4056-9A0F-A6F1579695C4}" sibTransId="{B75586D9-70BA-47B1-AFDA-60C58FEBC4FC}"/>
    <dgm:cxn modelId="{E9183F96-3B7B-4132-9693-C8E025BDF98D}" srcId="{EFBC2DA1-8C1F-4A13-A390-CE8A25ED2AF2}" destId="{D30D67DE-19E1-45CE-BB90-4BFDB68E392A}" srcOrd="1" destOrd="0" parTransId="{672AAED3-6B6F-432F-BC2C-07BC29A65B0A}" sibTransId="{C34FF4CF-DF04-4BDC-AC92-3B6C86A90DA8}"/>
    <dgm:cxn modelId="{225AC2E7-9CE6-4079-AEE5-03CFA9308561}" srcId="{EFBC2DA1-8C1F-4A13-A390-CE8A25ED2AF2}" destId="{CE267D0A-AB66-462C-8B84-16E6E9DB6C48}" srcOrd="4" destOrd="0" parTransId="{B0615A61-2E4F-47EA-A07E-818A6C0CF1E6}" sibTransId="{A3FDD9BD-B822-4CC6-9C6F-89BC9FD1F6E5}"/>
    <dgm:cxn modelId="{3D91B64C-DA48-4EBA-8984-D42A0573C1F8}" type="presParOf" srcId="{A4C9E719-E909-4565-B777-A28C4B041E3D}" destId="{37C02AC0-8BBB-4463-BBFF-2DA7FD2A3FDD}" srcOrd="0" destOrd="0" presId="urn:microsoft.com/office/officeart/2005/8/layout/default"/>
    <dgm:cxn modelId="{F1390E8F-F51D-40EF-B142-BC2601E04944}" type="presParOf" srcId="{A4C9E719-E909-4565-B777-A28C4B041E3D}" destId="{D3FF7605-3777-4946-818E-6F0A6585BA90}" srcOrd="1" destOrd="0" presId="urn:microsoft.com/office/officeart/2005/8/layout/default"/>
    <dgm:cxn modelId="{13A18BEB-80D7-40C7-AB54-18AF255AE187}" type="presParOf" srcId="{A4C9E719-E909-4565-B777-A28C4B041E3D}" destId="{D511CD0E-4314-480C-B812-03D1D12A85C3}" srcOrd="2" destOrd="0" presId="urn:microsoft.com/office/officeart/2005/8/layout/default"/>
    <dgm:cxn modelId="{9151C8E9-1C47-4D5C-8BDB-039D77E0717E}" type="presParOf" srcId="{A4C9E719-E909-4565-B777-A28C4B041E3D}" destId="{66466743-1C70-461E-803E-483AFD8DED59}" srcOrd="3" destOrd="0" presId="urn:microsoft.com/office/officeart/2005/8/layout/default"/>
    <dgm:cxn modelId="{F4F61D58-FEE4-446F-BE6B-CD7704FB97D6}" type="presParOf" srcId="{A4C9E719-E909-4565-B777-A28C4B041E3D}" destId="{97235CF3-EBB9-4F75-961D-C4CA65EF9BCD}" srcOrd="4" destOrd="0" presId="urn:microsoft.com/office/officeart/2005/8/layout/default"/>
    <dgm:cxn modelId="{9E755146-9AB3-41A9-B6EF-C52294EB67B1}" type="presParOf" srcId="{A4C9E719-E909-4565-B777-A28C4B041E3D}" destId="{975B2283-05A1-4F94-8673-91CA43EDDE08}" srcOrd="5" destOrd="0" presId="urn:microsoft.com/office/officeart/2005/8/layout/default"/>
    <dgm:cxn modelId="{FE5A4259-29C4-4430-AE54-2BC758CC8A34}" type="presParOf" srcId="{A4C9E719-E909-4565-B777-A28C4B041E3D}" destId="{78B47A4B-DD5B-4A60-AC4E-816BB3F05809}" srcOrd="6" destOrd="0" presId="urn:microsoft.com/office/officeart/2005/8/layout/default"/>
    <dgm:cxn modelId="{DB39B9A0-0C6C-4A3F-A262-A7D087E8F448}" type="presParOf" srcId="{A4C9E719-E909-4565-B777-A28C4B041E3D}" destId="{6D7815AB-1086-4434-A8BF-BF43C21CE1C8}" srcOrd="7" destOrd="0" presId="urn:microsoft.com/office/officeart/2005/8/layout/default"/>
    <dgm:cxn modelId="{3141F1EF-E83E-4772-9D92-9C190A7872F2}" type="presParOf" srcId="{A4C9E719-E909-4565-B777-A28C4B041E3D}" destId="{33F8FE76-78A7-4FF0-9E30-B321E49FB0D2}"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C02AC0-8BBB-4463-BBFF-2DA7FD2A3FDD}">
      <dsp:nvSpPr>
        <dsp:cNvPr id="0" name=""/>
        <dsp:cNvSpPr/>
      </dsp:nvSpPr>
      <dsp:spPr>
        <a:xfrm>
          <a:off x="541734" y="348"/>
          <a:ext cx="2757040" cy="1654224"/>
        </a:xfrm>
        <a:prstGeom prst="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Anomaly Detection</a:t>
          </a:r>
          <a:endParaRPr lang="en-US" sz="2800" kern="1200"/>
        </a:p>
      </dsp:txBody>
      <dsp:txXfrm>
        <a:off x="541734" y="348"/>
        <a:ext cx="2757040" cy="1654224"/>
      </dsp:txXfrm>
    </dsp:sp>
    <dsp:sp modelId="{D511CD0E-4314-480C-B812-03D1D12A85C3}">
      <dsp:nvSpPr>
        <dsp:cNvPr id="0" name=""/>
        <dsp:cNvSpPr/>
      </dsp:nvSpPr>
      <dsp:spPr>
        <a:xfrm>
          <a:off x="3574479" y="348"/>
          <a:ext cx="2757040" cy="1654224"/>
        </a:xfrm>
        <a:prstGeom prst="rect">
          <a:avLst/>
        </a:prstGeom>
        <a:gradFill rotWithShape="0">
          <a:gsLst>
            <a:gs pos="0">
              <a:schemeClr val="accent5">
                <a:hueOff val="-827139"/>
                <a:satOff val="-4443"/>
                <a:lumOff val="1519"/>
                <a:alphaOff val="0"/>
                <a:tint val="94000"/>
                <a:satMod val="105000"/>
                <a:lumMod val="102000"/>
              </a:schemeClr>
            </a:gs>
            <a:gs pos="100000">
              <a:schemeClr val="accent5">
                <a:hueOff val="-827139"/>
                <a:satOff val="-4443"/>
                <a:lumOff val="1519"/>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Customer Segmentation and Behavioural Analysis</a:t>
          </a:r>
          <a:endParaRPr lang="en-US" sz="2800" kern="1200"/>
        </a:p>
      </dsp:txBody>
      <dsp:txXfrm>
        <a:off x="3574479" y="348"/>
        <a:ext cx="2757040" cy="1654224"/>
      </dsp:txXfrm>
    </dsp:sp>
    <dsp:sp modelId="{97235CF3-EBB9-4F75-961D-C4CA65EF9BCD}">
      <dsp:nvSpPr>
        <dsp:cNvPr id="0" name=""/>
        <dsp:cNvSpPr/>
      </dsp:nvSpPr>
      <dsp:spPr>
        <a:xfrm>
          <a:off x="6607223" y="348"/>
          <a:ext cx="2757040" cy="1654224"/>
        </a:xfrm>
        <a:prstGeom prst="rect">
          <a:avLst/>
        </a:prstGeom>
        <a:gradFill rotWithShape="0">
          <a:gsLst>
            <a:gs pos="0">
              <a:schemeClr val="accent5">
                <a:hueOff val="-1654278"/>
                <a:satOff val="-8885"/>
                <a:lumOff val="3039"/>
                <a:alphaOff val="0"/>
                <a:tint val="94000"/>
                <a:satMod val="105000"/>
                <a:lumMod val="102000"/>
              </a:schemeClr>
            </a:gs>
            <a:gs pos="100000">
              <a:schemeClr val="accent5">
                <a:hueOff val="-1654278"/>
                <a:satOff val="-8885"/>
                <a:lumOff val="3039"/>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Recommendation Systems</a:t>
          </a:r>
          <a:endParaRPr lang="en-US" sz="2800" kern="1200"/>
        </a:p>
      </dsp:txBody>
      <dsp:txXfrm>
        <a:off x="6607223" y="348"/>
        <a:ext cx="2757040" cy="1654224"/>
      </dsp:txXfrm>
    </dsp:sp>
    <dsp:sp modelId="{78B47A4B-DD5B-4A60-AC4E-816BB3F05809}">
      <dsp:nvSpPr>
        <dsp:cNvPr id="0" name=""/>
        <dsp:cNvSpPr/>
      </dsp:nvSpPr>
      <dsp:spPr>
        <a:xfrm>
          <a:off x="2058106" y="1930277"/>
          <a:ext cx="2757040" cy="1654224"/>
        </a:xfrm>
        <a:prstGeom prst="rect">
          <a:avLst/>
        </a:prstGeom>
        <a:gradFill rotWithShape="0">
          <a:gsLst>
            <a:gs pos="0">
              <a:schemeClr val="accent5">
                <a:hueOff val="-2481417"/>
                <a:satOff val="-13328"/>
                <a:lumOff val="4558"/>
                <a:alphaOff val="0"/>
                <a:tint val="94000"/>
                <a:satMod val="105000"/>
                <a:lumMod val="102000"/>
              </a:schemeClr>
            </a:gs>
            <a:gs pos="100000">
              <a:schemeClr val="accent5">
                <a:hueOff val="-2481417"/>
                <a:satOff val="-13328"/>
                <a:lumOff val="455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Image and Video Data Compression</a:t>
          </a:r>
          <a:endParaRPr lang="en-US" sz="2800" kern="1200"/>
        </a:p>
      </dsp:txBody>
      <dsp:txXfrm>
        <a:off x="2058106" y="1930277"/>
        <a:ext cx="2757040" cy="1654224"/>
      </dsp:txXfrm>
    </dsp:sp>
    <dsp:sp modelId="{33F8FE76-78A7-4FF0-9E30-B321E49FB0D2}">
      <dsp:nvSpPr>
        <dsp:cNvPr id="0" name=""/>
        <dsp:cNvSpPr/>
      </dsp:nvSpPr>
      <dsp:spPr>
        <a:xfrm>
          <a:off x="5090851" y="1930277"/>
          <a:ext cx="2757040" cy="1654224"/>
        </a:xfrm>
        <a:prstGeom prst="rect">
          <a:avLst/>
        </a:prstGeom>
        <a:gradFill rotWithShape="0">
          <a:gsLst>
            <a:gs pos="0">
              <a:schemeClr val="accent5">
                <a:hueOff val="-3308557"/>
                <a:satOff val="-17770"/>
                <a:lumOff val="6078"/>
                <a:alphaOff val="0"/>
                <a:tint val="94000"/>
                <a:satMod val="105000"/>
                <a:lumMod val="102000"/>
              </a:schemeClr>
            </a:gs>
            <a:gs pos="100000">
              <a:schemeClr val="accent5">
                <a:hueOff val="-3308557"/>
                <a:satOff val="-17770"/>
                <a:lumOff val="607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Natural Language Processing (NLP)</a:t>
          </a:r>
          <a:endParaRPr lang="en-US" sz="2800" kern="1200"/>
        </a:p>
      </dsp:txBody>
      <dsp:txXfrm>
        <a:off x="5090851" y="1930277"/>
        <a:ext cx="2757040" cy="165422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9F1EC65B-54B3-4DC2-9550-E8FCA0A2D524}" type="datetimeFigureOut">
              <a:rPr lang="en-GB" smtClean="0"/>
              <a:t>08/06/2026</a:t>
            </a:fld>
            <a:endParaRPr lang="en-GB"/>
          </a:p>
        </p:txBody>
      </p:sp>
      <p:sp>
        <p:nvSpPr>
          <p:cNvPr id="5" name="Footer Placeholder 4"/>
          <p:cNvSpPr>
            <a:spLocks noGrp="1"/>
          </p:cNvSpPr>
          <p:nvPr>
            <p:ph type="ftr" sz="quarter" idx="11"/>
          </p:nvPr>
        </p:nvSpPr>
        <p:spPr>
          <a:xfrm>
            <a:off x="1876424" y="5410201"/>
            <a:ext cx="5124886" cy="365125"/>
          </a:xfrm>
        </p:spPr>
        <p:txBody>
          <a:bodyPr/>
          <a:lstStyle/>
          <a:p>
            <a:endParaRPr lang="en-GB"/>
          </a:p>
        </p:txBody>
      </p:sp>
      <p:sp>
        <p:nvSpPr>
          <p:cNvPr id="6" name="Slide Number Placeholder 5"/>
          <p:cNvSpPr>
            <a:spLocks noGrp="1"/>
          </p:cNvSpPr>
          <p:nvPr>
            <p:ph type="sldNum" sz="quarter" idx="12"/>
          </p:nvPr>
        </p:nvSpPr>
        <p:spPr>
          <a:xfrm>
            <a:off x="9896911" y="5410199"/>
            <a:ext cx="771089" cy="365125"/>
          </a:xfrm>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759319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1EC65B-54B3-4DC2-9550-E8FCA0A2D524}"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2716821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1EC65B-54B3-4DC2-9550-E8FCA0A2D524}"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419114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1733705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1EC65B-54B3-4DC2-9550-E8FCA0A2D524}" type="datetimeFigureOut">
              <a:rPr lang="en-GB" smtClean="0"/>
              <a:t>08/06/2026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3185173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1EC65B-54B3-4DC2-9550-E8FCA0A2D524}" type="datetimeFigureOut">
              <a:rPr lang="en-GB" smtClean="0"/>
              <a:t>08/06/2026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128047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1EC65B-54B3-4DC2-9550-E8FCA0A2D524}" type="datetimeFigureOut">
              <a:rPr lang="en-GB" smtClean="0"/>
              <a:t>08/06/2026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2378407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986364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3563035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3234874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40578261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99067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1EC65B-54B3-4DC2-9550-E8FCA0A2D524}"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1465610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F1EC65B-54B3-4DC2-9550-E8FCA0A2D524}" type="datetimeFigureOut">
              <a:rPr lang="en-GB" smtClean="0"/>
              <a:t>08/06/2026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3371820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F1EC65B-54B3-4DC2-9550-E8FCA0A2D524}" type="datetimeFigureOut">
              <a:rPr lang="en-GB" smtClean="0"/>
              <a:t>08/06/2026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1182029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1EC65B-54B3-4DC2-9550-E8FCA0A2D524}"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2534151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1EC65B-54B3-4DC2-9550-E8FCA0A2D524}"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71D862-3319-4900-9CED-C7B4FA75F8F1}" type="slidenum">
              <a:rPr lang="en-GB" smtClean="0"/>
              <a:t>‹#›</a:t>
            </a:fld>
            <a:endParaRPr lang="en-GB"/>
          </a:p>
        </p:txBody>
      </p:sp>
    </p:spTree>
    <p:extLst>
      <p:ext uri="{BB962C8B-B14F-4D97-AF65-F5344CB8AC3E}">
        <p14:creationId xmlns:p14="http://schemas.microsoft.com/office/powerpoint/2010/main" val="2446763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F1EC65B-54B3-4DC2-9550-E8FCA0A2D524}" type="datetimeFigureOut">
              <a:rPr lang="en-GB" smtClean="0"/>
              <a:t>08/06/2026</a:t>
            </a:fld>
            <a:endParaRPr lang="en-GB"/>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F71D862-3319-4900-9CED-C7B4FA75F8F1}" type="slidenum">
              <a:rPr lang="en-GB" smtClean="0"/>
              <a:t>‹#›</a:t>
            </a:fld>
            <a:endParaRPr lang="en-GB"/>
          </a:p>
        </p:txBody>
      </p:sp>
    </p:spTree>
    <p:extLst>
      <p:ext uri="{BB962C8B-B14F-4D97-AF65-F5344CB8AC3E}">
        <p14:creationId xmlns:p14="http://schemas.microsoft.com/office/powerpoint/2010/main" val="31748207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E19AC-112E-00B3-AD75-520CC644E52F}"/>
              </a:ext>
            </a:extLst>
          </p:cNvPr>
          <p:cNvSpPr>
            <a:spLocks noGrp="1"/>
          </p:cNvSpPr>
          <p:nvPr>
            <p:ph type="ctrTitle"/>
          </p:nvPr>
        </p:nvSpPr>
        <p:spPr>
          <a:xfrm>
            <a:off x="1876424" y="4141693"/>
            <a:ext cx="8791575" cy="1301673"/>
          </a:xfrm>
        </p:spPr>
        <p:txBody>
          <a:bodyPr>
            <a:normAutofit/>
          </a:bodyPr>
          <a:lstStyle/>
          <a:p>
            <a:r>
              <a:rPr lang="en-GB" dirty="0"/>
              <a:t>Unsupervised Learning</a:t>
            </a:r>
          </a:p>
        </p:txBody>
      </p:sp>
      <p:pic>
        <p:nvPicPr>
          <p:cNvPr id="7" name="Graphic 6" descr="Head with Gears">
            <a:extLst>
              <a:ext uri="{FF2B5EF4-FFF2-40B4-BE49-F238E27FC236}">
                <a16:creationId xmlns:a16="http://schemas.microsoft.com/office/drawing/2014/main" id="{9B27B86E-62D9-0029-2BA9-35FC29F31A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25307" y="1108038"/>
            <a:ext cx="2893808" cy="289380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5" name="Subtitle 4">
            <a:extLst>
              <a:ext uri="{FF2B5EF4-FFF2-40B4-BE49-F238E27FC236}">
                <a16:creationId xmlns:a16="http://schemas.microsoft.com/office/drawing/2014/main" id="{8E376A00-8B10-F7D6-386E-981BF6CDCD5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39901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1375F2-60B1-44ED-B60A-019C4BD5A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alpha val="60000"/>
                </a:schemeClr>
              </a:gs>
              <a:gs pos="100000">
                <a:schemeClr val="bg2">
                  <a:lumMod val="60000"/>
                  <a:lumOff val="40000"/>
                  <a:alpha val="80000"/>
                </a:schemeClr>
              </a:gs>
            </a:gsLst>
            <a:lin ang="5400000" scaled="0"/>
            <a:tileRect/>
          </a:gra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grpSp>
      <p:sp>
        <p:nvSpPr>
          <p:cNvPr id="2" name="Title 1">
            <a:extLst>
              <a:ext uri="{FF2B5EF4-FFF2-40B4-BE49-F238E27FC236}">
                <a16:creationId xmlns:a16="http://schemas.microsoft.com/office/drawing/2014/main" id="{8978BA46-B01F-1926-2C8B-B2B51FD9CBF7}"/>
              </a:ext>
            </a:extLst>
          </p:cNvPr>
          <p:cNvSpPr>
            <a:spLocks noGrp="1"/>
          </p:cNvSpPr>
          <p:nvPr>
            <p:ph type="title"/>
          </p:nvPr>
        </p:nvSpPr>
        <p:spPr>
          <a:xfrm>
            <a:off x="1141413" y="618518"/>
            <a:ext cx="9905998" cy="1478570"/>
          </a:xfrm>
        </p:spPr>
        <p:txBody>
          <a:bodyPr>
            <a:normAutofit/>
          </a:bodyPr>
          <a:lstStyle/>
          <a:p>
            <a:r>
              <a:rPr lang="en-GB"/>
              <a:t>Unsupervised Learning</a:t>
            </a:r>
            <a:endParaRPr lang="en-GB" dirty="0"/>
          </a:p>
        </p:txBody>
      </p:sp>
      <p:sp>
        <p:nvSpPr>
          <p:cNvPr id="3" name="Content Placeholder 2">
            <a:extLst>
              <a:ext uri="{FF2B5EF4-FFF2-40B4-BE49-F238E27FC236}">
                <a16:creationId xmlns:a16="http://schemas.microsoft.com/office/drawing/2014/main" id="{32C14A87-C8B2-AF5F-8064-31EC9ECD584B}"/>
              </a:ext>
            </a:extLst>
          </p:cNvPr>
          <p:cNvSpPr>
            <a:spLocks noGrp="1"/>
          </p:cNvSpPr>
          <p:nvPr>
            <p:ph idx="1"/>
          </p:nvPr>
        </p:nvSpPr>
        <p:spPr>
          <a:xfrm>
            <a:off x="1141412" y="2249487"/>
            <a:ext cx="9905999" cy="3541714"/>
          </a:xfrm>
        </p:spPr>
        <p:txBody>
          <a:bodyPr>
            <a:normAutofit/>
          </a:bodyPr>
          <a:lstStyle/>
          <a:p>
            <a:pPr marL="0" indent="0">
              <a:buNone/>
            </a:pPr>
            <a:r>
              <a:rPr lang="en-GB"/>
              <a:t>Unsupervised learning is a branch of machine learning where models are trained on unlabelled datasets without predefined output labels. Unlike supervised learning, which focuses on predicting specific outcomes, unsupervised learning algorithms aim to uncover patterns, relationships, or hidden structures within the input data. Common applications include clustering and dimensionality reduction. In essence, it's about discovering meaningful insights from data without prior knowledge of expected results.</a:t>
            </a:r>
          </a:p>
          <a:p>
            <a:pPr marL="0" indent="0">
              <a:buNone/>
            </a:pPr>
            <a:endParaRPr lang="en-GB"/>
          </a:p>
        </p:txBody>
      </p:sp>
      <p:grpSp>
        <p:nvGrpSpPr>
          <p:cNvPr id="39" name="Group 38">
            <a:extLst>
              <a:ext uri="{FF2B5EF4-FFF2-40B4-BE49-F238E27FC236}">
                <a16:creationId xmlns:a16="http://schemas.microsoft.com/office/drawing/2014/main" id="{B485B3F6-654D-4842-A2DE-677D12FED4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60000"/>
                </a:schemeClr>
              </a:gs>
              <a:gs pos="100000">
                <a:schemeClr val="bg2">
                  <a:lumMod val="60000"/>
                  <a:lumOff val="40000"/>
                  <a:alpha val="60000"/>
                </a:schemeClr>
              </a:gs>
            </a:gsLst>
            <a:lin ang="5400000" scaled="0"/>
            <a:tileRect/>
          </a:gradFill>
        </p:grpSpPr>
        <p:sp>
          <p:nvSpPr>
            <p:cNvPr id="40" name="Freeform 32">
              <a:extLst>
                <a:ext uri="{FF2B5EF4-FFF2-40B4-BE49-F238E27FC236}">
                  <a16:creationId xmlns:a16="http://schemas.microsoft.com/office/drawing/2014/main" id="{BF4365F4-C63C-4FC2-907B-1F7D414B9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1" name="Freeform 33">
              <a:extLst>
                <a:ext uri="{FF2B5EF4-FFF2-40B4-BE49-F238E27FC236}">
                  <a16:creationId xmlns:a16="http://schemas.microsoft.com/office/drawing/2014/main" id="{B0538225-01AB-41C4-9A02-FE1BD81D62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2" name="Freeform 34">
              <a:extLst>
                <a:ext uri="{FF2B5EF4-FFF2-40B4-BE49-F238E27FC236}">
                  <a16:creationId xmlns:a16="http://schemas.microsoft.com/office/drawing/2014/main" id="{66942F07-D7CC-49EB-BF73-8B94D5F4FC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3" name="Freeform 35">
              <a:extLst>
                <a:ext uri="{FF2B5EF4-FFF2-40B4-BE49-F238E27FC236}">
                  <a16:creationId xmlns:a16="http://schemas.microsoft.com/office/drawing/2014/main" id="{4D3CACE0-3AC7-4A9F-9A3F-1694ACCD4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4" name="Freeform 36">
              <a:extLst>
                <a:ext uri="{FF2B5EF4-FFF2-40B4-BE49-F238E27FC236}">
                  <a16:creationId xmlns:a16="http://schemas.microsoft.com/office/drawing/2014/main" id="{19063B47-FBFB-4EA1-A3FB-BECE005F48B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5" name="Freeform 37">
              <a:extLst>
                <a:ext uri="{FF2B5EF4-FFF2-40B4-BE49-F238E27FC236}">
                  <a16:creationId xmlns:a16="http://schemas.microsoft.com/office/drawing/2014/main" id="{B856863B-C809-4C31-94D0-659A91851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6" name="Freeform 38">
              <a:extLst>
                <a:ext uri="{FF2B5EF4-FFF2-40B4-BE49-F238E27FC236}">
                  <a16:creationId xmlns:a16="http://schemas.microsoft.com/office/drawing/2014/main" id="{298CB3D7-7373-4AC6-9E2C-4AFDDE2802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7" name="Freeform 39">
              <a:extLst>
                <a:ext uri="{FF2B5EF4-FFF2-40B4-BE49-F238E27FC236}">
                  <a16:creationId xmlns:a16="http://schemas.microsoft.com/office/drawing/2014/main" id="{7DE09F1B-2326-4ED3-B63B-A30815DDEC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8" name="Freeform 40">
              <a:extLst>
                <a:ext uri="{FF2B5EF4-FFF2-40B4-BE49-F238E27FC236}">
                  <a16:creationId xmlns:a16="http://schemas.microsoft.com/office/drawing/2014/main" id="{2498F244-3CE6-4D90-B5CF-5189DB17D0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GB"/>
            </a:p>
          </p:txBody>
        </p:sp>
        <p:sp>
          <p:nvSpPr>
            <p:cNvPr id="49" name="Rectangle 41">
              <a:extLst>
                <a:ext uri="{FF2B5EF4-FFF2-40B4-BE49-F238E27FC236}">
                  <a16:creationId xmlns:a16="http://schemas.microsoft.com/office/drawing/2014/main" id="{9A30DD13-FA10-4B9F-8B4D-97B7287B82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GB"/>
            </a:p>
          </p:txBody>
        </p:sp>
      </p:grpSp>
    </p:spTree>
    <p:extLst>
      <p:ext uri="{BB962C8B-B14F-4D97-AF65-F5344CB8AC3E}">
        <p14:creationId xmlns:p14="http://schemas.microsoft.com/office/powerpoint/2010/main" val="347788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F39647-42F9-9555-A396-F9934EFB289F}"/>
              </a:ext>
            </a:extLst>
          </p:cNvPr>
          <p:cNvPicPr>
            <a:picLocks noChangeAspect="1"/>
          </p:cNvPicPr>
          <p:nvPr/>
        </p:nvPicPr>
        <p:blipFill rotWithShape="1">
          <a:blip r:embed="rId2"/>
          <a:srcRect l="11554" r="10754"/>
          <a:stretch/>
        </p:blipFill>
        <p:spPr>
          <a:xfrm>
            <a:off x="0" y="233237"/>
            <a:ext cx="12192000" cy="6391526"/>
          </a:xfrm>
          <a:prstGeom prst="rect">
            <a:avLst/>
          </a:prstGeom>
        </p:spPr>
      </p:pic>
    </p:spTree>
    <p:extLst>
      <p:ext uri="{BB962C8B-B14F-4D97-AF65-F5344CB8AC3E}">
        <p14:creationId xmlns:p14="http://schemas.microsoft.com/office/powerpoint/2010/main" val="390421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70282-FCD5-69F3-610F-F50C466E302C}"/>
              </a:ext>
            </a:extLst>
          </p:cNvPr>
          <p:cNvSpPr>
            <a:spLocks noGrp="1"/>
          </p:cNvSpPr>
          <p:nvPr>
            <p:ph type="title"/>
          </p:nvPr>
        </p:nvSpPr>
        <p:spPr/>
        <p:txBody>
          <a:bodyPr/>
          <a:lstStyle/>
          <a:p>
            <a:r>
              <a:rPr lang="en-GB" dirty="0"/>
              <a:t>No Labelled Data</a:t>
            </a:r>
          </a:p>
        </p:txBody>
      </p:sp>
      <p:sp>
        <p:nvSpPr>
          <p:cNvPr id="3" name="Content Placeholder 2">
            <a:extLst>
              <a:ext uri="{FF2B5EF4-FFF2-40B4-BE49-F238E27FC236}">
                <a16:creationId xmlns:a16="http://schemas.microsoft.com/office/drawing/2014/main" id="{80A9A7A7-0B25-24F3-5DBF-BB8BCBB1D05E}"/>
              </a:ext>
            </a:extLst>
          </p:cNvPr>
          <p:cNvSpPr>
            <a:spLocks noGrp="1"/>
          </p:cNvSpPr>
          <p:nvPr>
            <p:ph idx="1"/>
          </p:nvPr>
        </p:nvSpPr>
        <p:spPr/>
        <p:txBody>
          <a:bodyPr>
            <a:noAutofit/>
          </a:bodyPr>
          <a:lstStyle/>
          <a:p>
            <a:pPr marL="0" indent="0" algn="just">
              <a:buNone/>
            </a:pPr>
            <a:r>
              <a:rPr lang="en-GB" sz="2800" dirty="0"/>
              <a:t>Unsupervised learning is characterized by its independence from labelled data. Algorithms in this category do not depend on predefined output labels, allowing them to explore and analyse raw input data without any prior knowledge of correct output values. This absence of labelled data enables unsupervised learning models to derive insights and patterns directly from the input data itself.</a:t>
            </a:r>
          </a:p>
        </p:txBody>
      </p:sp>
    </p:spTree>
    <p:extLst>
      <p:ext uri="{BB962C8B-B14F-4D97-AF65-F5344CB8AC3E}">
        <p14:creationId xmlns:p14="http://schemas.microsoft.com/office/powerpoint/2010/main" val="3817615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E7219E15-74F6-F07B-955E-5AA38E196A37}"/>
              </a:ext>
            </a:extLst>
          </p:cNvPr>
          <p:cNvSpPr>
            <a:spLocks noGrp="1"/>
          </p:cNvSpPr>
          <p:nvPr>
            <p:ph type="title"/>
          </p:nvPr>
        </p:nvSpPr>
        <p:spPr>
          <a:xfrm>
            <a:off x="4996697" y="618518"/>
            <a:ext cx="6050713" cy="1478570"/>
          </a:xfrm>
        </p:spPr>
        <p:txBody>
          <a:bodyPr>
            <a:normAutofit/>
          </a:bodyPr>
          <a:lstStyle/>
          <a:p>
            <a:r>
              <a:rPr lang="en-GB" dirty="0"/>
              <a:t>Algorithms</a:t>
            </a:r>
          </a:p>
        </p:txBody>
      </p:sp>
      <p:pic>
        <p:nvPicPr>
          <p:cNvPr id="5" name="Picture 4" descr="Close up of a molecular model">
            <a:extLst>
              <a:ext uri="{FF2B5EF4-FFF2-40B4-BE49-F238E27FC236}">
                <a16:creationId xmlns:a16="http://schemas.microsoft.com/office/drawing/2014/main" id="{E5E9C9BB-6744-9EFD-7054-0CE350A0D70F}"/>
              </a:ext>
            </a:extLst>
          </p:cNvPr>
          <p:cNvPicPr>
            <a:picLocks noChangeAspect="1"/>
          </p:cNvPicPr>
          <p:nvPr/>
        </p:nvPicPr>
        <p:blipFill rotWithShape="1">
          <a:blip r:embed="rId4"/>
          <a:srcRect l="44763" r="4542"/>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B88A9C81-B493-39F3-C625-564B0AD385C9}"/>
              </a:ext>
            </a:extLst>
          </p:cNvPr>
          <p:cNvSpPr>
            <a:spLocks noGrp="1"/>
          </p:cNvSpPr>
          <p:nvPr>
            <p:ph idx="1"/>
          </p:nvPr>
        </p:nvSpPr>
        <p:spPr>
          <a:xfrm>
            <a:off x="4968958" y="2249487"/>
            <a:ext cx="6078453" cy="3541714"/>
          </a:xfrm>
        </p:spPr>
        <p:txBody>
          <a:bodyPr>
            <a:normAutofit/>
          </a:bodyPr>
          <a:lstStyle/>
          <a:p>
            <a:pPr marL="0" indent="0">
              <a:buNone/>
            </a:pPr>
            <a:r>
              <a:rPr lang="en-GB"/>
              <a:t>Common algorithms used in unsupervised learning include k-means clustering, hierarchical clustering, principal component analysis (PCA), dimensionality reduction techniques like t-SNE, and association rule learning algorithms such as </a:t>
            </a:r>
            <a:r>
              <a:rPr lang="en-GB" err="1"/>
              <a:t>Apriori</a:t>
            </a:r>
            <a:r>
              <a:rPr lang="en-GB"/>
              <a:t>.</a:t>
            </a:r>
          </a:p>
        </p:txBody>
      </p:sp>
    </p:spTree>
    <p:extLst>
      <p:ext uri="{BB962C8B-B14F-4D97-AF65-F5344CB8AC3E}">
        <p14:creationId xmlns:p14="http://schemas.microsoft.com/office/powerpoint/2010/main" val="89920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BAD83E25-FCE4-9DEF-161D-07B378277C83}"/>
              </a:ext>
            </a:extLst>
          </p:cNvPr>
          <p:cNvSpPr>
            <a:spLocks noGrp="1"/>
          </p:cNvSpPr>
          <p:nvPr>
            <p:ph type="title"/>
          </p:nvPr>
        </p:nvSpPr>
        <p:spPr>
          <a:xfrm>
            <a:off x="4996697" y="618518"/>
            <a:ext cx="6050713" cy="1478570"/>
          </a:xfrm>
        </p:spPr>
        <p:txBody>
          <a:bodyPr>
            <a:normAutofit/>
          </a:bodyPr>
          <a:lstStyle/>
          <a:p>
            <a:r>
              <a:rPr lang="en-GB"/>
              <a:t>Dimensionality Reduction</a:t>
            </a:r>
            <a:endParaRPr lang="en-GB" dirty="0"/>
          </a:p>
        </p:txBody>
      </p:sp>
      <p:pic>
        <p:nvPicPr>
          <p:cNvPr id="5" name="Picture 4" descr="Digital financial graph">
            <a:extLst>
              <a:ext uri="{FF2B5EF4-FFF2-40B4-BE49-F238E27FC236}">
                <a16:creationId xmlns:a16="http://schemas.microsoft.com/office/drawing/2014/main" id="{5F0A9971-1D3B-2A76-D2F2-DB1E2D483937}"/>
              </a:ext>
            </a:extLst>
          </p:cNvPr>
          <p:cNvPicPr>
            <a:picLocks noChangeAspect="1"/>
          </p:cNvPicPr>
          <p:nvPr/>
        </p:nvPicPr>
        <p:blipFill rotWithShape="1">
          <a:blip r:embed="rId4"/>
          <a:srcRect l="38632" r="23346"/>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72"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3"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4"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5"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76"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E34627F7-A0C0-BE80-9452-0CAF2F4E5F59}"/>
              </a:ext>
            </a:extLst>
          </p:cNvPr>
          <p:cNvSpPr>
            <a:spLocks noGrp="1"/>
          </p:cNvSpPr>
          <p:nvPr>
            <p:ph idx="1"/>
          </p:nvPr>
        </p:nvSpPr>
        <p:spPr>
          <a:xfrm>
            <a:off x="4968958" y="2249487"/>
            <a:ext cx="6078453" cy="3541714"/>
          </a:xfrm>
        </p:spPr>
        <p:txBody>
          <a:bodyPr>
            <a:normAutofit/>
          </a:bodyPr>
          <a:lstStyle/>
          <a:p>
            <a:pPr marL="0" indent="0">
              <a:lnSpc>
                <a:spcPct val="110000"/>
              </a:lnSpc>
              <a:buNone/>
            </a:pPr>
            <a:r>
              <a:rPr lang="en-GB" sz="2000"/>
              <a:t>Dimensionality reduction is a fundamental task in unsupervised learning that </a:t>
            </a:r>
            <a:r>
              <a:rPr lang="en-GB" sz="2000" err="1"/>
              <a:t>centers</a:t>
            </a:r>
            <a:r>
              <a:rPr lang="en-GB" sz="2000"/>
              <a:t> around streamlining complex datasets by diminishing the number of features or variables, all while retaining vital information for analysis. This simplification is instrumental in facilitating data visualization and in-depth examination. Dimensionality reduction techniques can either be linear or nonlinear and are commonly deployed in a range of applications, including image and speech recognition, signal processing, and data compression.</a:t>
            </a:r>
          </a:p>
        </p:txBody>
      </p:sp>
    </p:spTree>
    <p:extLst>
      <p:ext uri="{BB962C8B-B14F-4D97-AF65-F5344CB8AC3E}">
        <p14:creationId xmlns:p14="http://schemas.microsoft.com/office/powerpoint/2010/main" val="2010180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BAD83E25-FCE4-9DEF-161D-07B378277C83}"/>
              </a:ext>
            </a:extLst>
          </p:cNvPr>
          <p:cNvSpPr>
            <a:spLocks noGrp="1"/>
          </p:cNvSpPr>
          <p:nvPr>
            <p:ph type="title"/>
          </p:nvPr>
        </p:nvSpPr>
        <p:spPr>
          <a:xfrm>
            <a:off x="4996697" y="618518"/>
            <a:ext cx="6050713" cy="1478570"/>
          </a:xfrm>
        </p:spPr>
        <p:txBody>
          <a:bodyPr>
            <a:normAutofit/>
          </a:bodyPr>
          <a:lstStyle/>
          <a:p>
            <a:r>
              <a:rPr lang="en-GB" dirty="0"/>
              <a:t>Dimensionality Reduction</a:t>
            </a:r>
          </a:p>
        </p:txBody>
      </p:sp>
      <p:pic>
        <p:nvPicPr>
          <p:cNvPr id="5" name="Picture 4" descr="Close up of a molecular model">
            <a:extLst>
              <a:ext uri="{FF2B5EF4-FFF2-40B4-BE49-F238E27FC236}">
                <a16:creationId xmlns:a16="http://schemas.microsoft.com/office/drawing/2014/main" id="{B5F1DF8E-2311-513C-1FAF-B2610C24495C}"/>
              </a:ext>
            </a:extLst>
          </p:cNvPr>
          <p:cNvPicPr>
            <a:picLocks noChangeAspect="1"/>
          </p:cNvPicPr>
          <p:nvPr/>
        </p:nvPicPr>
        <p:blipFill rotWithShape="1">
          <a:blip r:embed="rId4"/>
          <a:srcRect l="44763" r="4542"/>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E34627F7-A0C0-BE80-9452-0CAF2F4E5F59}"/>
              </a:ext>
            </a:extLst>
          </p:cNvPr>
          <p:cNvSpPr>
            <a:spLocks noGrp="1"/>
          </p:cNvSpPr>
          <p:nvPr>
            <p:ph idx="1"/>
          </p:nvPr>
        </p:nvSpPr>
        <p:spPr>
          <a:xfrm>
            <a:off x="4968958" y="2249487"/>
            <a:ext cx="6078453" cy="3541714"/>
          </a:xfrm>
        </p:spPr>
        <p:txBody>
          <a:bodyPr>
            <a:normAutofit/>
          </a:bodyPr>
          <a:lstStyle/>
          <a:p>
            <a:pPr marL="0" indent="0">
              <a:buNone/>
            </a:pPr>
            <a:r>
              <a:rPr lang="en-GB"/>
              <a:t>Noteworthy methods for dimensionality reduction encompass principal component analysis (PCA), t-distributed stochastic </a:t>
            </a:r>
            <a:r>
              <a:rPr lang="en-GB" err="1"/>
              <a:t>neighbor</a:t>
            </a:r>
            <a:r>
              <a:rPr lang="en-GB"/>
              <a:t> embedding (t-SNE), and autoencoders. In essence, dimensionality reduction is a technique that contributes to simplifying intricate data within unsupervised learning contexts.</a:t>
            </a:r>
          </a:p>
          <a:p>
            <a:pPr marL="0" indent="0">
              <a:buNone/>
            </a:pPr>
            <a:endParaRPr lang="en-GB"/>
          </a:p>
        </p:txBody>
      </p:sp>
    </p:spTree>
    <p:extLst>
      <p:ext uri="{BB962C8B-B14F-4D97-AF65-F5344CB8AC3E}">
        <p14:creationId xmlns:p14="http://schemas.microsoft.com/office/powerpoint/2010/main" val="1100477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78F08017-38DF-54F4-46E2-24CC933EFC08}"/>
              </a:ext>
            </a:extLst>
          </p:cNvPr>
          <p:cNvSpPr>
            <a:spLocks noGrp="1"/>
          </p:cNvSpPr>
          <p:nvPr>
            <p:ph type="title"/>
          </p:nvPr>
        </p:nvSpPr>
        <p:spPr>
          <a:xfrm>
            <a:off x="4996697" y="618518"/>
            <a:ext cx="6050713" cy="1478570"/>
          </a:xfrm>
        </p:spPr>
        <p:txBody>
          <a:bodyPr>
            <a:normAutofit/>
          </a:bodyPr>
          <a:lstStyle/>
          <a:p>
            <a:r>
              <a:rPr lang="en-GB" dirty="0"/>
              <a:t>Pattern Discovery</a:t>
            </a:r>
          </a:p>
        </p:txBody>
      </p:sp>
      <p:pic>
        <p:nvPicPr>
          <p:cNvPr id="5" name="Picture 4" descr="White bulbs with a yellow one standing out">
            <a:extLst>
              <a:ext uri="{FF2B5EF4-FFF2-40B4-BE49-F238E27FC236}">
                <a16:creationId xmlns:a16="http://schemas.microsoft.com/office/drawing/2014/main" id="{6A22E11E-1420-61B3-2563-88692286C377}"/>
              </a:ext>
            </a:extLst>
          </p:cNvPr>
          <p:cNvPicPr>
            <a:picLocks noChangeAspect="1"/>
          </p:cNvPicPr>
          <p:nvPr/>
        </p:nvPicPr>
        <p:blipFill rotWithShape="1">
          <a:blip r:embed="rId4"/>
          <a:srcRect l="19505" r="35375" b="-1"/>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1D7AA533-C867-80CA-7717-90353CBBB95A}"/>
              </a:ext>
            </a:extLst>
          </p:cNvPr>
          <p:cNvSpPr>
            <a:spLocks noGrp="1"/>
          </p:cNvSpPr>
          <p:nvPr>
            <p:ph idx="1"/>
          </p:nvPr>
        </p:nvSpPr>
        <p:spPr>
          <a:xfrm>
            <a:off x="4968958" y="2249487"/>
            <a:ext cx="6078453" cy="3541714"/>
          </a:xfrm>
        </p:spPr>
        <p:txBody>
          <a:bodyPr>
            <a:normAutofit/>
          </a:bodyPr>
          <a:lstStyle/>
          <a:p>
            <a:pPr marL="0" indent="0">
              <a:lnSpc>
                <a:spcPct val="110000"/>
              </a:lnSpc>
              <a:buNone/>
            </a:pPr>
            <a:r>
              <a:rPr lang="en-GB" sz="1900"/>
              <a:t>Unsupervised learning's core objective is pattern discovery, entailing the identification of hidden patterns, correlations, and structures within the data. This process involves revealing inherent relationships between variables without prior knowledge. The assessment of unsupervised learning models primarily hinges on their capacity to unveil meaningful patterns or structures in the data, rather than making explicit predictions. This approach serves to simplify data analysis and aids in understanding the underlying relationships among data points.</a:t>
            </a:r>
          </a:p>
        </p:txBody>
      </p:sp>
    </p:spTree>
    <p:extLst>
      <p:ext uri="{BB962C8B-B14F-4D97-AF65-F5344CB8AC3E}">
        <p14:creationId xmlns:p14="http://schemas.microsoft.com/office/powerpoint/2010/main" val="976933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GB"/>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GB"/>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D589B-7FE5-B8AB-5186-C3FD54E2EEB0}"/>
              </a:ext>
            </a:extLst>
          </p:cNvPr>
          <p:cNvSpPr>
            <a:spLocks noGrp="1"/>
          </p:cNvSpPr>
          <p:nvPr>
            <p:ph type="title"/>
          </p:nvPr>
        </p:nvSpPr>
        <p:spPr>
          <a:xfrm>
            <a:off x="1577445" y="1168078"/>
            <a:ext cx="9048219" cy="1092200"/>
          </a:xfrm>
        </p:spPr>
        <p:txBody>
          <a:bodyPr anchor="ctr">
            <a:normAutofit/>
          </a:bodyPr>
          <a:lstStyle/>
          <a:p>
            <a:pPr algn="ctr"/>
            <a:r>
              <a:rPr lang="en-GB">
                <a:solidFill>
                  <a:srgbClr val="FFFFFF"/>
                </a:solidFill>
              </a:rPr>
              <a:t>Clustering</a:t>
            </a:r>
          </a:p>
        </p:txBody>
      </p:sp>
      <p:sp>
        <p:nvSpPr>
          <p:cNvPr id="3" name="Content Placeholder 2">
            <a:extLst>
              <a:ext uri="{FF2B5EF4-FFF2-40B4-BE49-F238E27FC236}">
                <a16:creationId xmlns:a16="http://schemas.microsoft.com/office/drawing/2014/main" id="{C7E3B01E-04D3-5EEA-3B4C-69D0EBFB49C9}"/>
              </a:ext>
            </a:extLst>
          </p:cNvPr>
          <p:cNvSpPr>
            <a:spLocks noGrp="1"/>
          </p:cNvSpPr>
          <p:nvPr>
            <p:ph idx="1"/>
          </p:nvPr>
        </p:nvSpPr>
        <p:spPr>
          <a:xfrm>
            <a:off x="1577446" y="2413001"/>
            <a:ext cx="9048218" cy="3033180"/>
          </a:xfrm>
        </p:spPr>
        <p:txBody>
          <a:bodyPr anchor="ctr">
            <a:normAutofit/>
          </a:bodyPr>
          <a:lstStyle/>
          <a:p>
            <a:pPr marL="0" indent="0">
              <a:buNone/>
            </a:pPr>
            <a:r>
              <a:rPr lang="en-GB" sz="2000">
                <a:solidFill>
                  <a:srgbClr val="FFFFFF"/>
                </a:solidFill>
              </a:rPr>
              <a:t>Clustering is a prevalent unsupervised learning task that involves organizing data points into groups based on their shared characteristics. This process helps unveil inherent patterns or groupings in the data and is valuable for tasks such as customer segmentation, image and text classification, and anomaly detection. Common clustering algorithms used for this purpose include k-means clustering, hierarchical clustering, and DBSCAN. Essentially, clustering aids in identifying natural data groupings or segmentation.</a:t>
            </a:r>
          </a:p>
        </p:txBody>
      </p:sp>
    </p:spTree>
    <p:extLst>
      <p:ext uri="{BB962C8B-B14F-4D97-AF65-F5344CB8AC3E}">
        <p14:creationId xmlns:p14="http://schemas.microsoft.com/office/powerpoint/2010/main" val="129029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7C3DFA-1C6E-3B82-22E4-162A500F1DB4}"/>
              </a:ext>
            </a:extLst>
          </p:cNvPr>
          <p:cNvSpPr>
            <a:spLocks noGrp="1"/>
          </p:cNvSpPr>
          <p:nvPr>
            <p:ph type="title"/>
          </p:nvPr>
        </p:nvSpPr>
        <p:spPr>
          <a:xfrm>
            <a:off x="1141413" y="618518"/>
            <a:ext cx="9905998" cy="1478570"/>
          </a:xfrm>
        </p:spPr>
        <p:txBody>
          <a:bodyPr>
            <a:normAutofit/>
          </a:bodyPr>
          <a:lstStyle/>
          <a:p>
            <a:r>
              <a:rPr lang="en-GB" dirty="0"/>
              <a:t>Applications of Unsupervised Learning</a:t>
            </a:r>
          </a:p>
        </p:txBody>
      </p:sp>
      <p:graphicFrame>
        <p:nvGraphicFramePr>
          <p:cNvPr id="5" name="Content Placeholder 2">
            <a:extLst>
              <a:ext uri="{FF2B5EF4-FFF2-40B4-BE49-F238E27FC236}">
                <a16:creationId xmlns:a16="http://schemas.microsoft.com/office/drawing/2014/main" id="{48374124-9CD8-F7C6-0861-F9D6B410C86E}"/>
              </a:ext>
            </a:extLst>
          </p:cNvPr>
          <p:cNvGraphicFramePr>
            <a:graphicFrameLocks noGrp="1"/>
          </p:cNvGraphicFramePr>
          <p:nvPr>
            <p:ph idx="1"/>
            <p:extLst>
              <p:ext uri="{D42A27DB-BD31-4B8C-83A1-F6EECF244321}">
                <p14:modId xmlns:p14="http://schemas.microsoft.com/office/powerpoint/2010/main" val="4228780280"/>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535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4872A0B-8668-4500-9509-EAA581B26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8B504305-5526-408E-85F7-F0BA7E527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5827CE64-2533-45A6-9A39-7D5052E5CEE0}"/>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0C97986F-258E-7603-AB16-43C55F86830B}"/>
              </a:ext>
            </a:extLst>
          </p:cNvPr>
          <p:cNvSpPr>
            <a:spLocks noGrp="1"/>
          </p:cNvSpPr>
          <p:nvPr>
            <p:ph type="title"/>
          </p:nvPr>
        </p:nvSpPr>
        <p:spPr>
          <a:xfrm>
            <a:off x="6448425" y="618518"/>
            <a:ext cx="4598985" cy="1478570"/>
          </a:xfrm>
        </p:spPr>
        <p:txBody>
          <a:bodyPr>
            <a:normAutofit/>
          </a:bodyPr>
          <a:lstStyle/>
          <a:p>
            <a:r>
              <a:rPr lang="en-GB" dirty="0"/>
              <a:t>Anomaly Detection</a:t>
            </a:r>
          </a:p>
        </p:txBody>
      </p:sp>
      <p:pic>
        <p:nvPicPr>
          <p:cNvPr id="5" name="Picture 4" descr="close up of man finger on stock market charts">
            <a:extLst>
              <a:ext uri="{FF2B5EF4-FFF2-40B4-BE49-F238E27FC236}">
                <a16:creationId xmlns:a16="http://schemas.microsoft.com/office/drawing/2014/main" id="{C5AF5BA5-BDDA-F3B2-CB49-220B357ACC91}"/>
              </a:ext>
            </a:extLst>
          </p:cNvPr>
          <p:cNvPicPr>
            <a:picLocks noChangeAspect="1"/>
          </p:cNvPicPr>
          <p:nvPr/>
        </p:nvPicPr>
        <p:blipFill rotWithShape="1">
          <a:blip r:embed="rId4"/>
          <a:srcRect l="8254" r="32357" b="-1"/>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240590EE-5428-41AA-95B2-96FCC1CE67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494DCC55-99C6-45CF-B357-E3848C80934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63D64E32-FF0C-4665-B9D8-D1ECAAE5BA4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3675001D-3840-4589-8190-505A7F52F0A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19E34E87-395F-4023-A80E-D1CBAAEBD9B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FB1B38F-1B92-41C3-AA1D-6D6440FB0D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02FBE453-FBD2-4348-8DDA-4A023444E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60D719E8-BF78-4F42-B9D1-7F5E02A36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5EC70737-9C19-4CF5-84DA-B22A960D53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88FD042E-E56E-4360-9620-F811AB9A33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18F15D2B-0812-46F6-B0F4-6A6714B54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0C2F2A50-98DD-4F92-BDFE-B72E235766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473541D9-6DAE-4718-97D4-8952F4E7CC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3A56C5E9-011C-44D2-AF94-3BF542043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CD279E0E-1CD5-4F41-96A5-3A09707E81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F5A6F094-9E54-4985-8738-D2067A4F0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99D51F59-FA93-490E-B9CF-97BB63747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3CD83DC6-F4A0-4A4D-AAC3-83983F960DC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6E9B4028-C74F-4631-8312-68B30E6E62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1E3337C9-1DDE-4E2E-8519-7D2C23C95F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754A526E-6EC0-458A-9C4C-008F6749CD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6A3DA723-7448-48CF-8BD2-FED2D4FED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9B506EC1-D8A8-4532-B78B-A236567EE0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AA9DFB36-74F4-4977-ABC5-3257EDA33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966A7FBA-BB79-4AF0-90C2-5F2BC9F2D1D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23BB8A47-FF1B-44E5-8D93-7ADF37F1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E463E1B7-7BED-4425-95B7-F6F75F8733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749D0675-4397-4610-9807-2F7C1CC942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DE7617CF-8919-43C3-9557-08D67C7DAF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3DB68720-7E37-4930-9900-8632140D62B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202F13DF-5B76-468E-A95E-80780788BD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219143C2-6062-4C2C-9563-6534108E3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38413A0C-26DB-479B-B747-1D8136100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CB526B5F-4FAA-4B4C-8AF8-B98EC74A3D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54FFF88E-6D69-4AE9-8378-D16419155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8008115A-CE00-4E36-BAF1-B511F21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2935DB29-6F85-47D8-863C-11386389DB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4FB8E51B-1AC1-4671-B181-473C29BECD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91E6AE4F-959F-4ED7-A199-8C0307E40E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A0445E55-0009-44A5-AA6A-350D9D48A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B5291C75-4ECA-4829-B824-5725C32905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6793376D-3E7C-4F04-8BC8-EC4820622BE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3596510A-5528-445D-AFEA-6E3F89BA84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E1B69479-D8C9-4E2E-A931-4D49C4FD76D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0A759A2E-A8B1-44C8-B3F9-A16714C895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6C2B3B3C-1DC9-4352-BB73-801976C8F5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EE22E3A8-5789-4189-9AC7-98D6826B03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9AC0FC74-D003-4D0D-9CAF-F6A03739E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126C2057-02E1-4348-ABEB-EAC063A17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150586D-D743-4392-844F-F2AFCCE649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9E5B157A-534E-4879-8013-D02864E76F5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CEE2DD73-7E8C-4F26-8E93-8C32D11B26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908CAC5F-DD8E-4A58-BD4C-6D8D29FA49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20F130CF-281E-408C-9884-5F8B22CA1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3BC78068-9115-4D5D-9B2B-6F9BD9C296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B3F3DE0F-238D-E55D-248B-25838473DD9B}"/>
              </a:ext>
            </a:extLst>
          </p:cNvPr>
          <p:cNvSpPr>
            <a:spLocks noGrp="1"/>
          </p:cNvSpPr>
          <p:nvPr>
            <p:ph idx="1"/>
          </p:nvPr>
        </p:nvSpPr>
        <p:spPr>
          <a:xfrm>
            <a:off x="6448425" y="2249487"/>
            <a:ext cx="4598986" cy="3541714"/>
          </a:xfrm>
        </p:spPr>
        <p:txBody>
          <a:bodyPr>
            <a:normAutofit/>
          </a:bodyPr>
          <a:lstStyle/>
          <a:p>
            <a:pPr marL="0" indent="0">
              <a:lnSpc>
                <a:spcPct val="110000"/>
              </a:lnSpc>
              <a:buNone/>
            </a:pPr>
            <a:r>
              <a:rPr lang="en-GB" sz="1700"/>
              <a:t>Anomaly detection is a vital application of unsupervised learning, as it enables the identification of atypical patterns within various datasets, whether it's network traffic, financial transactions, or system behaviour. The focus is on pinpointing data points that significantly deviate from the norm. This capability is essential for tasks such as fraud detection, intrusion detection, and any context where the recognition of rare or abnormal events is paramount.</a:t>
            </a:r>
          </a:p>
        </p:txBody>
      </p:sp>
    </p:spTree>
    <p:extLst>
      <p:ext uri="{BB962C8B-B14F-4D97-AF65-F5344CB8AC3E}">
        <p14:creationId xmlns:p14="http://schemas.microsoft.com/office/powerpoint/2010/main" val="1501596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0C97986F-258E-7603-AB16-43C55F86830B}"/>
              </a:ext>
            </a:extLst>
          </p:cNvPr>
          <p:cNvSpPr>
            <a:spLocks noGrp="1"/>
          </p:cNvSpPr>
          <p:nvPr>
            <p:ph type="title"/>
          </p:nvPr>
        </p:nvSpPr>
        <p:spPr>
          <a:xfrm>
            <a:off x="4996697" y="618518"/>
            <a:ext cx="6050713" cy="1478570"/>
          </a:xfrm>
        </p:spPr>
        <p:txBody>
          <a:bodyPr>
            <a:normAutofit/>
          </a:bodyPr>
          <a:lstStyle/>
          <a:p>
            <a:r>
              <a:rPr lang="en-GB" dirty="0"/>
              <a:t>Anomaly Detection</a:t>
            </a:r>
          </a:p>
        </p:txBody>
      </p:sp>
      <p:pic>
        <p:nvPicPr>
          <p:cNvPr id="5" name="Picture 4">
            <a:extLst>
              <a:ext uri="{FF2B5EF4-FFF2-40B4-BE49-F238E27FC236}">
                <a16:creationId xmlns:a16="http://schemas.microsoft.com/office/drawing/2014/main" id="{3A0A815B-5A21-1488-149F-721B7253EBCC}"/>
              </a:ext>
            </a:extLst>
          </p:cNvPr>
          <p:cNvPicPr>
            <a:picLocks noChangeAspect="1"/>
          </p:cNvPicPr>
          <p:nvPr/>
        </p:nvPicPr>
        <p:blipFill rotWithShape="1">
          <a:blip r:embed="rId4"/>
          <a:srcRect l="27701" r="31743"/>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B3F3DE0F-238D-E55D-248B-25838473DD9B}"/>
              </a:ext>
            </a:extLst>
          </p:cNvPr>
          <p:cNvSpPr>
            <a:spLocks noGrp="1"/>
          </p:cNvSpPr>
          <p:nvPr>
            <p:ph idx="1"/>
          </p:nvPr>
        </p:nvSpPr>
        <p:spPr>
          <a:xfrm>
            <a:off x="4968958" y="2249487"/>
            <a:ext cx="6078453" cy="3541714"/>
          </a:xfrm>
        </p:spPr>
        <p:txBody>
          <a:bodyPr>
            <a:normAutofit/>
          </a:bodyPr>
          <a:lstStyle/>
          <a:p>
            <a:pPr marL="0" indent="0">
              <a:buNone/>
            </a:pPr>
            <a:r>
              <a:rPr lang="en-GB"/>
              <a:t>Anomaly detection methods can be either unsupervised or supervised, utilizing statistical models, machine learning algorithms, or a combination of both. Notable algorithms for anomaly detection include the isolation forest, one-class SVM, and local outlier factor (LOF).</a:t>
            </a:r>
          </a:p>
        </p:txBody>
      </p:sp>
    </p:spTree>
    <p:extLst>
      <p:ext uri="{BB962C8B-B14F-4D97-AF65-F5344CB8AC3E}">
        <p14:creationId xmlns:p14="http://schemas.microsoft.com/office/powerpoint/2010/main" val="1665922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6AEF31E2-E8DE-4DD4-62E3-E675E634C9F8}"/>
              </a:ext>
            </a:extLst>
          </p:cNvPr>
          <p:cNvSpPr>
            <a:spLocks noGrp="1"/>
          </p:cNvSpPr>
          <p:nvPr>
            <p:ph type="title"/>
          </p:nvPr>
        </p:nvSpPr>
        <p:spPr>
          <a:xfrm>
            <a:off x="4996697" y="618518"/>
            <a:ext cx="6050713" cy="1478570"/>
          </a:xfrm>
        </p:spPr>
        <p:txBody>
          <a:bodyPr>
            <a:normAutofit/>
          </a:bodyPr>
          <a:lstStyle/>
          <a:p>
            <a:r>
              <a:rPr lang="en-GB" dirty="0"/>
              <a:t>Customer Segmentation and Behavioural Analysis</a:t>
            </a:r>
          </a:p>
        </p:txBody>
      </p:sp>
      <p:pic>
        <p:nvPicPr>
          <p:cNvPr id="5" name="Picture 4">
            <a:extLst>
              <a:ext uri="{FF2B5EF4-FFF2-40B4-BE49-F238E27FC236}">
                <a16:creationId xmlns:a16="http://schemas.microsoft.com/office/drawing/2014/main" id="{7323B709-DC88-5AD0-3E85-A385508E6A54}"/>
              </a:ext>
            </a:extLst>
          </p:cNvPr>
          <p:cNvPicPr>
            <a:picLocks noChangeAspect="1"/>
          </p:cNvPicPr>
          <p:nvPr/>
        </p:nvPicPr>
        <p:blipFill rotWithShape="1">
          <a:blip r:embed="rId4"/>
          <a:srcRect l="20010" r="41969"/>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D32EC0FA-053C-C587-13CD-483AE9A496E5}"/>
              </a:ext>
            </a:extLst>
          </p:cNvPr>
          <p:cNvSpPr>
            <a:spLocks noGrp="1"/>
          </p:cNvSpPr>
          <p:nvPr>
            <p:ph idx="1"/>
          </p:nvPr>
        </p:nvSpPr>
        <p:spPr>
          <a:xfrm>
            <a:off x="4968958" y="2249487"/>
            <a:ext cx="6078453" cy="3541714"/>
          </a:xfrm>
        </p:spPr>
        <p:txBody>
          <a:bodyPr>
            <a:normAutofit/>
          </a:bodyPr>
          <a:lstStyle/>
          <a:p>
            <a:pPr marL="0" indent="0">
              <a:buNone/>
            </a:pPr>
            <a:r>
              <a:rPr lang="en-GB"/>
              <a:t>Enterprises employ unsupervised learning to categorize customers according to their buying habits, enabling the customization of marketing tactics for distinct customer groups.</a:t>
            </a:r>
          </a:p>
          <a:p>
            <a:pPr marL="0" indent="0">
              <a:buNone/>
            </a:pPr>
            <a:endParaRPr lang="en-GB"/>
          </a:p>
        </p:txBody>
      </p:sp>
    </p:spTree>
    <p:extLst>
      <p:ext uri="{BB962C8B-B14F-4D97-AF65-F5344CB8AC3E}">
        <p14:creationId xmlns:p14="http://schemas.microsoft.com/office/powerpoint/2010/main" val="4166196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5FF7A08C-8755-39DC-2E37-43CCDE38267B}"/>
              </a:ext>
            </a:extLst>
          </p:cNvPr>
          <p:cNvSpPr>
            <a:spLocks noGrp="1"/>
          </p:cNvSpPr>
          <p:nvPr>
            <p:ph type="title"/>
          </p:nvPr>
        </p:nvSpPr>
        <p:spPr>
          <a:xfrm>
            <a:off x="4996697" y="618518"/>
            <a:ext cx="6050713" cy="1478570"/>
          </a:xfrm>
        </p:spPr>
        <p:txBody>
          <a:bodyPr>
            <a:normAutofit/>
          </a:bodyPr>
          <a:lstStyle/>
          <a:p>
            <a:r>
              <a:rPr lang="en-GB" dirty="0"/>
              <a:t>Recommendation Systems</a:t>
            </a:r>
          </a:p>
        </p:txBody>
      </p:sp>
      <p:pic>
        <p:nvPicPr>
          <p:cNvPr id="5" name="Picture 4" descr="Abstract background of data">
            <a:extLst>
              <a:ext uri="{FF2B5EF4-FFF2-40B4-BE49-F238E27FC236}">
                <a16:creationId xmlns:a16="http://schemas.microsoft.com/office/drawing/2014/main" id="{A65BD545-9190-3537-E2A6-15C32DFA81C1}"/>
              </a:ext>
            </a:extLst>
          </p:cNvPr>
          <p:cNvPicPr>
            <a:picLocks noChangeAspect="1"/>
          </p:cNvPicPr>
          <p:nvPr/>
        </p:nvPicPr>
        <p:blipFill rotWithShape="1">
          <a:blip r:embed="rId4"/>
          <a:srcRect l="26780" r="35199"/>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CBB92303-3442-E455-ACAE-1345AB7BB572}"/>
              </a:ext>
            </a:extLst>
          </p:cNvPr>
          <p:cNvSpPr>
            <a:spLocks noGrp="1"/>
          </p:cNvSpPr>
          <p:nvPr>
            <p:ph idx="1"/>
          </p:nvPr>
        </p:nvSpPr>
        <p:spPr>
          <a:xfrm>
            <a:off x="4968958" y="2249487"/>
            <a:ext cx="6078453" cy="3541714"/>
          </a:xfrm>
        </p:spPr>
        <p:txBody>
          <a:bodyPr>
            <a:normAutofit/>
          </a:bodyPr>
          <a:lstStyle/>
          <a:p>
            <a:pPr marL="0" indent="0">
              <a:buNone/>
            </a:pPr>
            <a:r>
              <a:rPr lang="en-GB"/>
              <a:t>Unsupervised learning methods scrutinize user actions and inclinations to offer product, movie, or content recommendations, elevating user satisfaction across platforms such as e-commerce and streaming services.</a:t>
            </a:r>
          </a:p>
          <a:p>
            <a:pPr marL="0" indent="0">
              <a:buNone/>
            </a:pPr>
            <a:endParaRPr lang="en-GB"/>
          </a:p>
        </p:txBody>
      </p:sp>
    </p:spTree>
    <p:extLst>
      <p:ext uri="{BB962C8B-B14F-4D97-AF65-F5344CB8AC3E}">
        <p14:creationId xmlns:p14="http://schemas.microsoft.com/office/powerpoint/2010/main" val="4174072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3CBC8680-432D-C4F5-EEBC-8F51013B3DB4}"/>
              </a:ext>
            </a:extLst>
          </p:cNvPr>
          <p:cNvSpPr>
            <a:spLocks noGrp="1"/>
          </p:cNvSpPr>
          <p:nvPr>
            <p:ph type="title"/>
          </p:nvPr>
        </p:nvSpPr>
        <p:spPr>
          <a:xfrm>
            <a:off x="4996697" y="618518"/>
            <a:ext cx="6050713" cy="1478570"/>
          </a:xfrm>
        </p:spPr>
        <p:txBody>
          <a:bodyPr>
            <a:normAutofit/>
          </a:bodyPr>
          <a:lstStyle/>
          <a:p>
            <a:r>
              <a:rPr lang="en-GB" dirty="0"/>
              <a:t>Image and Video Data Compression</a:t>
            </a:r>
          </a:p>
        </p:txBody>
      </p:sp>
      <p:pic>
        <p:nvPicPr>
          <p:cNvPr id="5" name="Picture 4">
            <a:extLst>
              <a:ext uri="{FF2B5EF4-FFF2-40B4-BE49-F238E27FC236}">
                <a16:creationId xmlns:a16="http://schemas.microsoft.com/office/drawing/2014/main" id="{9C024D75-1912-1C67-C436-51F869269B8A}"/>
              </a:ext>
            </a:extLst>
          </p:cNvPr>
          <p:cNvPicPr>
            <a:picLocks noChangeAspect="1"/>
          </p:cNvPicPr>
          <p:nvPr/>
        </p:nvPicPr>
        <p:blipFill rotWithShape="1">
          <a:blip r:embed="rId4"/>
          <a:srcRect l="16980" r="44999"/>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3880C89E-FC5E-7473-3790-1CD1E0805F88}"/>
              </a:ext>
            </a:extLst>
          </p:cNvPr>
          <p:cNvSpPr>
            <a:spLocks noGrp="1"/>
          </p:cNvSpPr>
          <p:nvPr>
            <p:ph idx="1"/>
          </p:nvPr>
        </p:nvSpPr>
        <p:spPr>
          <a:xfrm>
            <a:off x="4968958" y="2249487"/>
            <a:ext cx="6078453" cy="3541714"/>
          </a:xfrm>
        </p:spPr>
        <p:txBody>
          <a:bodyPr>
            <a:normAutofit/>
          </a:bodyPr>
          <a:lstStyle/>
          <a:p>
            <a:pPr marL="0" indent="0">
              <a:buNone/>
            </a:pPr>
            <a:r>
              <a:rPr lang="en-GB"/>
              <a:t>Methods like clustering and dimensionality reduction play a pivotal role in downsizing images or videos, all the while conserving their fundamental characteristics. This facilitates resourceful storage and transmission.</a:t>
            </a:r>
          </a:p>
        </p:txBody>
      </p:sp>
    </p:spTree>
    <p:extLst>
      <p:ext uri="{BB962C8B-B14F-4D97-AF65-F5344CB8AC3E}">
        <p14:creationId xmlns:p14="http://schemas.microsoft.com/office/powerpoint/2010/main" val="1171171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E4726C-1831-4FE3-9A11-227F0DC2F0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B651D7F7-8C54-448E-A268-1CBFAD87D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E3B56E94-40E1-489A-98B2-A3238D66A06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7EDCB8DB-3733-0286-15D3-9A113910AAF3}"/>
              </a:ext>
            </a:extLst>
          </p:cNvPr>
          <p:cNvSpPr>
            <a:spLocks noGrp="1"/>
          </p:cNvSpPr>
          <p:nvPr>
            <p:ph type="title"/>
          </p:nvPr>
        </p:nvSpPr>
        <p:spPr>
          <a:xfrm>
            <a:off x="4996697" y="618518"/>
            <a:ext cx="6050713" cy="1478570"/>
          </a:xfrm>
        </p:spPr>
        <p:txBody>
          <a:bodyPr>
            <a:normAutofit/>
          </a:bodyPr>
          <a:lstStyle/>
          <a:p>
            <a:r>
              <a:rPr lang="en-GB" dirty="0"/>
              <a:t>Natural Language Processing (NLP)</a:t>
            </a:r>
          </a:p>
        </p:txBody>
      </p:sp>
      <p:pic>
        <p:nvPicPr>
          <p:cNvPr id="5" name="Picture 4" descr="Magnifying glass showing decling performance">
            <a:extLst>
              <a:ext uri="{FF2B5EF4-FFF2-40B4-BE49-F238E27FC236}">
                <a16:creationId xmlns:a16="http://schemas.microsoft.com/office/drawing/2014/main" id="{26E75C5A-2F43-265C-8788-785BCF6CD5A2}"/>
              </a:ext>
            </a:extLst>
          </p:cNvPr>
          <p:cNvPicPr>
            <a:picLocks noChangeAspect="1"/>
          </p:cNvPicPr>
          <p:nvPr/>
        </p:nvPicPr>
        <p:blipFill rotWithShape="1">
          <a:blip r:embed="rId4"/>
          <a:srcRect l="12159" r="42722" b="-1"/>
          <a:stretch/>
        </p:blipFill>
        <p:spPr>
          <a:xfrm>
            <a:off x="-5597" y="10"/>
            <a:ext cx="4635583" cy="6857990"/>
          </a:xfrm>
          <a:prstGeom prst="rect">
            <a:avLst/>
          </a:prstGeom>
        </p:spPr>
      </p:pic>
      <p:grpSp>
        <p:nvGrpSpPr>
          <p:cNvPr id="13" name="Group 12">
            <a:extLst>
              <a:ext uri="{FF2B5EF4-FFF2-40B4-BE49-F238E27FC236}">
                <a16:creationId xmlns:a16="http://schemas.microsoft.com/office/drawing/2014/main" id="{E916825F-759B-4F1A-BA80-AF7137691E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0AF64541-DE3B-4DBB-84E1-907956469E5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5" name="Freeform 6">
              <a:extLst>
                <a:ext uri="{FF2B5EF4-FFF2-40B4-BE49-F238E27FC236}">
                  <a16:creationId xmlns:a16="http://schemas.microsoft.com/office/drawing/2014/main" id="{9175DCC0-514A-4CA1-AD9A-1BB0FFF1B4F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6" name="Freeform 7">
              <a:extLst>
                <a:ext uri="{FF2B5EF4-FFF2-40B4-BE49-F238E27FC236}">
                  <a16:creationId xmlns:a16="http://schemas.microsoft.com/office/drawing/2014/main" id="{10371924-94D9-48AF-9D5B-6471775BE8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7" name="Rectangle 16">
              <a:extLst>
                <a:ext uri="{FF2B5EF4-FFF2-40B4-BE49-F238E27FC236}">
                  <a16:creationId xmlns:a16="http://schemas.microsoft.com/office/drawing/2014/main" id="{7C964FF9-A41A-438C-A22B-62690C98F1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18" name="Freeform 9">
              <a:extLst>
                <a:ext uri="{FF2B5EF4-FFF2-40B4-BE49-F238E27FC236}">
                  <a16:creationId xmlns:a16="http://schemas.microsoft.com/office/drawing/2014/main" id="{61716CD6-1875-4567-B3E2-364CD0960D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19" name="Freeform 10">
              <a:extLst>
                <a:ext uri="{FF2B5EF4-FFF2-40B4-BE49-F238E27FC236}">
                  <a16:creationId xmlns:a16="http://schemas.microsoft.com/office/drawing/2014/main" id="{31A293D3-7189-453D-AB91-1291AAFF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0" name="Freeform 11">
              <a:extLst>
                <a:ext uri="{FF2B5EF4-FFF2-40B4-BE49-F238E27FC236}">
                  <a16:creationId xmlns:a16="http://schemas.microsoft.com/office/drawing/2014/main" id="{87CB4EFE-58B3-4326-9CFB-A2AFADDF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1" name="Freeform 12">
              <a:extLst>
                <a:ext uri="{FF2B5EF4-FFF2-40B4-BE49-F238E27FC236}">
                  <a16:creationId xmlns:a16="http://schemas.microsoft.com/office/drawing/2014/main" id="{249CF4D3-B5A3-4287-BC9D-E9BB8FA6E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2" name="Freeform 13">
              <a:extLst>
                <a:ext uri="{FF2B5EF4-FFF2-40B4-BE49-F238E27FC236}">
                  <a16:creationId xmlns:a16="http://schemas.microsoft.com/office/drawing/2014/main" id="{4D2515F2-4D11-41AF-A6B1-7D084BEA9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3" name="Freeform 14">
              <a:extLst>
                <a:ext uri="{FF2B5EF4-FFF2-40B4-BE49-F238E27FC236}">
                  <a16:creationId xmlns:a16="http://schemas.microsoft.com/office/drawing/2014/main" id="{331BCBF4-0DC2-426E-84B3-AE38E403C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4" name="Freeform 15">
              <a:extLst>
                <a:ext uri="{FF2B5EF4-FFF2-40B4-BE49-F238E27FC236}">
                  <a16:creationId xmlns:a16="http://schemas.microsoft.com/office/drawing/2014/main" id="{EC8AF156-0BE9-437D-A83B-87364146D0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5" name="Freeform 16">
              <a:extLst>
                <a:ext uri="{FF2B5EF4-FFF2-40B4-BE49-F238E27FC236}">
                  <a16:creationId xmlns:a16="http://schemas.microsoft.com/office/drawing/2014/main" id="{AC8CB256-3F62-4406-88F5-CE2421FF25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6" name="Freeform 17">
              <a:extLst>
                <a:ext uri="{FF2B5EF4-FFF2-40B4-BE49-F238E27FC236}">
                  <a16:creationId xmlns:a16="http://schemas.microsoft.com/office/drawing/2014/main" id="{F3E812EB-415E-4B60-B0FB-65386882CE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7" name="Freeform 18">
              <a:extLst>
                <a:ext uri="{FF2B5EF4-FFF2-40B4-BE49-F238E27FC236}">
                  <a16:creationId xmlns:a16="http://schemas.microsoft.com/office/drawing/2014/main" id="{EB4C95D7-8E6D-45EC-8CA1-9123D718E3B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8" name="Freeform 19">
              <a:extLst>
                <a:ext uri="{FF2B5EF4-FFF2-40B4-BE49-F238E27FC236}">
                  <a16:creationId xmlns:a16="http://schemas.microsoft.com/office/drawing/2014/main" id="{83F62FD2-2F62-4495-997C-8BD7F95AB8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29" name="Freeform 20">
              <a:extLst>
                <a:ext uri="{FF2B5EF4-FFF2-40B4-BE49-F238E27FC236}">
                  <a16:creationId xmlns:a16="http://schemas.microsoft.com/office/drawing/2014/main" id="{B7DFE0F9-22A3-4846-8D4E-0D193BD3288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0" name="Freeform 21">
              <a:extLst>
                <a:ext uri="{FF2B5EF4-FFF2-40B4-BE49-F238E27FC236}">
                  <a16:creationId xmlns:a16="http://schemas.microsoft.com/office/drawing/2014/main" id="{244DAF25-7415-491A-9FF6-E04BC2DC2E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1" name="Freeform 22">
              <a:extLst>
                <a:ext uri="{FF2B5EF4-FFF2-40B4-BE49-F238E27FC236}">
                  <a16:creationId xmlns:a16="http://schemas.microsoft.com/office/drawing/2014/main" id="{7ACA3646-863C-4D00-A58A-62C7FE71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2" name="Freeform 23">
              <a:extLst>
                <a:ext uri="{FF2B5EF4-FFF2-40B4-BE49-F238E27FC236}">
                  <a16:creationId xmlns:a16="http://schemas.microsoft.com/office/drawing/2014/main" id="{0EA18B38-BD42-45ED-8458-FB205DBC76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3" name="Freeform 24">
              <a:extLst>
                <a:ext uri="{FF2B5EF4-FFF2-40B4-BE49-F238E27FC236}">
                  <a16:creationId xmlns:a16="http://schemas.microsoft.com/office/drawing/2014/main" id="{45302917-5DBE-4CF2-B52F-478F93FDDE7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4" name="Freeform 25">
              <a:extLst>
                <a:ext uri="{FF2B5EF4-FFF2-40B4-BE49-F238E27FC236}">
                  <a16:creationId xmlns:a16="http://schemas.microsoft.com/office/drawing/2014/main" id="{8E61E6FD-D40E-479C-ABE9-2B69AE20D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5" name="Freeform 26">
              <a:extLst>
                <a:ext uri="{FF2B5EF4-FFF2-40B4-BE49-F238E27FC236}">
                  <a16:creationId xmlns:a16="http://schemas.microsoft.com/office/drawing/2014/main" id="{2F4DEB4F-F824-48D7-AF9B-B5D905DCD1B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6" name="Freeform 27">
              <a:extLst>
                <a:ext uri="{FF2B5EF4-FFF2-40B4-BE49-F238E27FC236}">
                  <a16:creationId xmlns:a16="http://schemas.microsoft.com/office/drawing/2014/main" id="{F76CFA02-6090-4464-B573-BCA350C90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7" name="Freeform 28">
              <a:extLst>
                <a:ext uri="{FF2B5EF4-FFF2-40B4-BE49-F238E27FC236}">
                  <a16:creationId xmlns:a16="http://schemas.microsoft.com/office/drawing/2014/main" id="{51BE8BEC-76C7-41FE-AB76-35194C2442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8" name="Freeform 29">
              <a:extLst>
                <a:ext uri="{FF2B5EF4-FFF2-40B4-BE49-F238E27FC236}">
                  <a16:creationId xmlns:a16="http://schemas.microsoft.com/office/drawing/2014/main" id="{710F61D4-3B34-45A9-B9B7-CE0373AB49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39" name="Freeform 30">
              <a:extLst>
                <a:ext uri="{FF2B5EF4-FFF2-40B4-BE49-F238E27FC236}">
                  <a16:creationId xmlns:a16="http://schemas.microsoft.com/office/drawing/2014/main" id="{451F080F-4CFB-4626-87CA-BB4CACA1C6F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0" name="Freeform 31">
              <a:extLst>
                <a:ext uri="{FF2B5EF4-FFF2-40B4-BE49-F238E27FC236}">
                  <a16:creationId xmlns:a16="http://schemas.microsoft.com/office/drawing/2014/main" id="{667BBD71-2295-4A66-B76C-F82175C2B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1" name="Freeform 32">
              <a:extLst>
                <a:ext uri="{FF2B5EF4-FFF2-40B4-BE49-F238E27FC236}">
                  <a16:creationId xmlns:a16="http://schemas.microsoft.com/office/drawing/2014/main" id="{B6644DE8-5BD1-4D5F-B245-0D3A21BCE13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2" name="Rectangle 41">
              <a:extLst>
                <a:ext uri="{FF2B5EF4-FFF2-40B4-BE49-F238E27FC236}">
                  <a16:creationId xmlns:a16="http://schemas.microsoft.com/office/drawing/2014/main" id="{A4DE8FD0-E681-4D9C-85C2-BEA4C2B3A0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43" name="Freeform 34">
              <a:extLst>
                <a:ext uri="{FF2B5EF4-FFF2-40B4-BE49-F238E27FC236}">
                  <a16:creationId xmlns:a16="http://schemas.microsoft.com/office/drawing/2014/main" id="{D46033BD-1026-4388-B926-9D11E1D7C42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4" name="Freeform 35">
              <a:extLst>
                <a:ext uri="{FF2B5EF4-FFF2-40B4-BE49-F238E27FC236}">
                  <a16:creationId xmlns:a16="http://schemas.microsoft.com/office/drawing/2014/main" id="{1FA74D4C-2E28-42C5-A7FA-3C7D6BD8B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5" name="Freeform 36">
              <a:extLst>
                <a:ext uri="{FF2B5EF4-FFF2-40B4-BE49-F238E27FC236}">
                  <a16:creationId xmlns:a16="http://schemas.microsoft.com/office/drawing/2014/main" id="{FADF7B3F-903C-456C-983E-C9868DDAB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6" name="Freeform 37">
              <a:extLst>
                <a:ext uri="{FF2B5EF4-FFF2-40B4-BE49-F238E27FC236}">
                  <a16:creationId xmlns:a16="http://schemas.microsoft.com/office/drawing/2014/main" id="{033F8698-1549-44AD-8DAD-0055D7B80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7" name="Freeform 38">
              <a:extLst>
                <a:ext uri="{FF2B5EF4-FFF2-40B4-BE49-F238E27FC236}">
                  <a16:creationId xmlns:a16="http://schemas.microsoft.com/office/drawing/2014/main" id="{F1BDD4B6-46FD-4048-ADF1-32EADD9E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8" name="Freeform 39">
              <a:extLst>
                <a:ext uri="{FF2B5EF4-FFF2-40B4-BE49-F238E27FC236}">
                  <a16:creationId xmlns:a16="http://schemas.microsoft.com/office/drawing/2014/main" id="{E7F387A7-B3BF-4B1A-BFCA-2D21AD3DF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49" name="Freeform 40">
              <a:extLst>
                <a:ext uri="{FF2B5EF4-FFF2-40B4-BE49-F238E27FC236}">
                  <a16:creationId xmlns:a16="http://schemas.microsoft.com/office/drawing/2014/main" id="{7A1B6BC8-EA82-459D-A0E0-4EBE394E71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0" name="Freeform 41">
              <a:extLst>
                <a:ext uri="{FF2B5EF4-FFF2-40B4-BE49-F238E27FC236}">
                  <a16:creationId xmlns:a16="http://schemas.microsoft.com/office/drawing/2014/main" id="{8B94E190-DDC2-4545-906F-A1699BD73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1" name="Freeform 42">
              <a:extLst>
                <a:ext uri="{FF2B5EF4-FFF2-40B4-BE49-F238E27FC236}">
                  <a16:creationId xmlns:a16="http://schemas.microsoft.com/office/drawing/2014/main" id="{D9807239-A5BA-4BB3-9194-BCE3B2F21CE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2" name="Freeform 43">
              <a:extLst>
                <a:ext uri="{FF2B5EF4-FFF2-40B4-BE49-F238E27FC236}">
                  <a16:creationId xmlns:a16="http://schemas.microsoft.com/office/drawing/2014/main" id="{04D300FD-DC53-4375-8981-09EA63BCF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3" name="Freeform 44">
              <a:extLst>
                <a:ext uri="{FF2B5EF4-FFF2-40B4-BE49-F238E27FC236}">
                  <a16:creationId xmlns:a16="http://schemas.microsoft.com/office/drawing/2014/main" id="{1DF83FFD-4C16-41FD-928F-6E88AFC451C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4" name="Rectangle 53">
              <a:extLst>
                <a:ext uri="{FF2B5EF4-FFF2-40B4-BE49-F238E27FC236}">
                  <a16:creationId xmlns:a16="http://schemas.microsoft.com/office/drawing/2014/main" id="{A5B4BC2F-B667-462B-99D8-0C433124ABD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GB"/>
            </a:p>
          </p:txBody>
        </p:sp>
        <p:sp>
          <p:nvSpPr>
            <p:cNvPr id="55" name="Freeform 46">
              <a:extLst>
                <a:ext uri="{FF2B5EF4-FFF2-40B4-BE49-F238E27FC236}">
                  <a16:creationId xmlns:a16="http://schemas.microsoft.com/office/drawing/2014/main" id="{0CBD9EFB-AC61-4674-B75A-56449003C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6" name="Freeform 47">
              <a:extLst>
                <a:ext uri="{FF2B5EF4-FFF2-40B4-BE49-F238E27FC236}">
                  <a16:creationId xmlns:a16="http://schemas.microsoft.com/office/drawing/2014/main" id="{1AD4BBB0-F6A7-451F-BE09-DF619F38EB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7" name="Freeform 48">
              <a:extLst>
                <a:ext uri="{FF2B5EF4-FFF2-40B4-BE49-F238E27FC236}">
                  <a16:creationId xmlns:a16="http://schemas.microsoft.com/office/drawing/2014/main" id="{A258B285-AE5E-473A-AA72-3C95E1D83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8" name="Freeform 49">
              <a:extLst>
                <a:ext uri="{FF2B5EF4-FFF2-40B4-BE49-F238E27FC236}">
                  <a16:creationId xmlns:a16="http://schemas.microsoft.com/office/drawing/2014/main" id="{7BEEDDE5-CB8A-4DF9-858F-4D9462D955A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59" name="Freeform 50">
              <a:extLst>
                <a:ext uri="{FF2B5EF4-FFF2-40B4-BE49-F238E27FC236}">
                  <a16:creationId xmlns:a16="http://schemas.microsoft.com/office/drawing/2014/main" id="{DA1C731B-9B66-4D65-BF47-04B118107B0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0" name="Freeform 51">
              <a:extLst>
                <a:ext uri="{FF2B5EF4-FFF2-40B4-BE49-F238E27FC236}">
                  <a16:creationId xmlns:a16="http://schemas.microsoft.com/office/drawing/2014/main" id="{58DBFEC6-C6DC-4B7A-934F-5A79EC3280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1" name="Freeform 52">
              <a:extLst>
                <a:ext uri="{FF2B5EF4-FFF2-40B4-BE49-F238E27FC236}">
                  <a16:creationId xmlns:a16="http://schemas.microsoft.com/office/drawing/2014/main" id="{9948D8CB-2DBE-4E48-98EA-DF9E2666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2" name="Freeform 53">
              <a:extLst>
                <a:ext uri="{FF2B5EF4-FFF2-40B4-BE49-F238E27FC236}">
                  <a16:creationId xmlns:a16="http://schemas.microsoft.com/office/drawing/2014/main" id="{56AB69F6-9F0B-4AB6-BCA8-AA2FD69E998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3" name="Freeform 54">
              <a:extLst>
                <a:ext uri="{FF2B5EF4-FFF2-40B4-BE49-F238E27FC236}">
                  <a16:creationId xmlns:a16="http://schemas.microsoft.com/office/drawing/2014/main" id="{0E7FB426-288D-4B0B-B73B-10CCC0EF41E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4" name="Freeform 55">
              <a:extLst>
                <a:ext uri="{FF2B5EF4-FFF2-40B4-BE49-F238E27FC236}">
                  <a16:creationId xmlns:a16="http://schemas.microsoft.com/office/drawing/2014/main" id="{A5C59C6B-46C9-48C9-9F57-2EE738B53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5" name="Freeform 56">
              <a:extLst>
                <a:ext uri="{FF2B5EF4-FFF2-40B4-BE49-F238E27FC236}">
                  <a16:creationId xmlns:a16="http://schemas.microsoft.com/office/drawing/2014/main" id="{7CE85F33-17DC-4273-B06F-D171094449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6" name="Freeform 57">
              <a:extLst>
                <a:ext uri="{FF2B5EF4-FFF2-40B4-BE49-F238E27FC236}">
                  <a16:creationId xmlns:a16="http://schemas.microsoft.com/office/drawing/2014/main" id="{5CD001CF-F2C4-4810-A8D9-679F9F89E5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sp>
          <p:nvSpPr>
            <p:cNvPr id="67" name="Freeform 58">
              <a:extLst>
                <a:ext uri="{FF2B5EF4-FFF2-40B4-BE49-F238E27FC236}">
                  <a16:creationId xmlns:a16="http://schemas.microsoft.com/office/drawing/2014/main" id="{69F4BCDD-D153-40D2-8DD1-2509EE0CE4C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GB"/>
            </a:p>
          </p:txBody>
        </p:sp>
      </p:grpSp>
      <p:sp>
        <p:nvSpPr>
          <p:cNvPr id="3" name="Content Placeholder 2">
            <a:extLst>
              <a:ext uri="{FF2B5EF4-FFF2-40B4-BE49-F238E27FC236}">
                <a16:creationId xmlns:a16="http://schemas.microsoft.com/office/drawing/2014/main" id="{F374C745-C728-1B14-642E-A6D178730CED}"/>
              </a:ext>
            </a:extLst>
          </p:cNvPr>
          <p:cNvSpPr>
            <a:spLocks noGrp="1"/>
          </p:cNvSpPr>
          <p:nvPr>
            <p:ph idx="1"/>
          </p:nvPr>
        </p:nvSpPr>
        <p:spPr>
          <a:xfrm>
            <a:off x="4968958" y="2249487"/>
            <a:ext cx="6078453" cy="3541714"/>
          </a:xfrm>
        </p:spPr>
        <p:txBody>
          <a:bodyPr>
            <a:normAutofit/>
          </a:bodyPr>
          <a:lstStyle/>
          <a:p>
            <a:pPr marL="0" indent="0">
              <a:buNone/>
            </a:pPr>
            <a:r>
              <a:rPr lang="en-GB" dirty="0"/>
              <a:t>Unsupervised learning techniques find application in tasks like topic modelling, involving the analysis of extensive text data to unearth prevalent themes without the need for labelled examples.</a:t>
            </a:r>
          </a:p>
        </p:txBody>
      </p:sp>
    </p:spTree>
    <p:extLst>
      <p:ext uri="{BB962C8B-B14F-4D97-AF65-F5344CB8AC3E}">
        <p14:creationId xmlns:p14="http://schemas.microsoft.com/office/powerpoint/2010/main" val="165733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GB"/>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GB"/>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2420FC-90E3-BAEF-9181-666E46011BA1}"/>
              </a:ext>
            </a:extLst>
          </p:cNvPr>
          <p:cNvSpPr>
            <a:spLocks noGrp="1"/>
          </p:cNvSpPr>
          <p:nvPr>
            <p:ph type="title"/>
          </p:nvPr>
        </p:nvSpPr>
        <p:spPr>
          <a:xfrm>
            <a:off x="1577445" y="1168078"/>
            <a:ext cx="9048219" cy="1092200"/>
          </a:xfrm>
        </p:spPr>
        <p:txBody>
          <a:bodyPr anchor="ctr">
            <a:normAutofit/>
          </a:bodyPr>
          <a:lstStyle/>
          <a:p>
            <a:pPr algn="ctr"/>
            <a:r>
              <a:rPr lang="en-GB">
                <a:solidFill>
                  <a:srgbClr val="FFFFFF"/>
                </a:solidFill>
              </a:rPr>
              <a:t>Summary</a:t>
            </a:r>
          </a:p>
        </p:txBody>
      </p:sp>
      <p:sp>
        <p:nvSpPr>
          <p:cNvPr id="3" name="Content Placeholder 2">
            <a:extLst>
              <a:ext uri="{FF2B5EF4-FFF2-40B4-BE49-F238E27FC236}">
                <a16:creationId xmlns:a16="http://schemas.microsoft.com/office/drawing/2014/main" id="{054589A2-B1F9-10D6-3938-58D305306029}"/>
              </a:ext>
            </a:extLst>
          </p:cNvPr>
          <p:cNvSpPr>
            <a:spLocks noGrp="1"/>
          </p:cNvSpPr>
          <p:nvPr>
            <p:ph idx="1"/>
          </p:nvPr>
        </p:nvSpPr>
        <p:spPr>
          <a:xfrm>
            <a:off x="1577446" y="2413001"/>
            <a:ext cx="9048218" cy="3033180"/>
          </a:xfrm>
        </p:spPr>
        <p:txBody>
          <a:bodyPr anchor="ctr">
            <a:normAutofit/>
          </a:bodyPr>
          <a:lstStyle/>
          <a:p>
            <a:pPr marL="0" indent="0">
              <a:buNone/>
            </a:pPr>
            <a:r>
              <a:rPr lang="en-GB" sz="2000">
                <a:solidFill>
                  <a:srgbClr val="FFFFFF"/>
                </a:solidFill>
              </a:rPr>
              <a:t>Unsupervised learning is a highly valuable tool that empowers machines to discern inherent structures and relationships within data, making it indispensable for various data analysis tasks. It excels at revealing concealed patterns, rendering data more digestible, and enabling better interpretation. By harnessing unsupervised learning techniques, one can acquire valuable insights and make informed decisions across a broad spectrum of applications.</a:t>
            </a:r>
          </a:p>
        </p:txBody>
      </p:sp>
    </p:spTree>
    <p:extLst>
      <p:ext uri="{BB962C8B-B14F-4D97-AF65-F5344CB8AC3E}">
        <p14:creationId xmlns:p14="http://schemas.microsoft.com/office/powerpoint/2010/main" val="1956461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GB"/>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GB"/>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3F8523-4BDA-B568-3FF4-2DFAFF26DAEF}"/>
              </a:ext>
            </a:extLst>
          </p:cNvPr>
          <p:cNvSpPr>
            <a:spLocks noGrp="1"/>
          </p:cNvSpPr>
          <p:nvPr>
            <p:ph type="title"/>
          </p:nvPr>
        </p:nvSpPr>
        <p:spPr>
          <a:xfrm>
            <a:off x="1577445" y="1168078"/>
            <a:ext cx="9048219" cy="1092200"/>
          </a:xfrm>
        </p:spPr>
        <p:txBody>
          <a:bodyPr anchor="ctr">
            <a:normAutofit/>
          </a:bodyPr>
          <a:lstStyle/>
          <a:p>
            <a:pPr algn="ctr"/>
            <a:r>
              <a:rPr lang="en-GB">
                <a:solidFill>
                  <a:srgbClr val="FFFFFF"/>
                </a:solidFill>
              </a:rPr>
              <a:t>Summary</a:t>
            </a:r>
          </a:p>
        </p:txBody>
      </p:sp>
      <p:sp>
        <p:nvSpPr>
          <p:cNvPr id="3" name="Content Placeholder 2">
            <a:extLst>
              <a:ext uri="{FF2B5EF4-FFF2-40B4-BE49-F238E27FC236}">
                <a16:creationId xmlns:a16="http://schemas.microsoft.com/office/drawing/2014/main" id="{3499F34A-8DA1-4933-E730-94D20944CD92}"/>
              </a:ext>
            </a:extLst>
          </p:cNvPr>
          <p:cNvSpPr>
            <a:spLocks noGrp="1"/>
          </p:cNvSpPr>
          <p:nvPr>
            <p:ph idx="1"/>
          </p:nvPr>
        </p:nvSpPr>
        <p:spPr>
          <a:xfrm>
            <a:off x="1577446" y="2413001"/>
            <a:ext cx="9048218" cy="3033180"/>
          </a:xfrm>
        </p:spPr>
        <p:txBody>
          <a:bodyPr anchor="ctr">
            <a:normAutofit/>
          </a:bodyPr>
          <a:lstStyle/>
          <a:p>
            <a:pPr marL="0" indent="0">
              <a:buNone/>
            </a:pPr>
            <a:r>
              <a:rPr lang="en-GB" sz="2000">
                <a:solidFill>
                  <a:srgbClr val="FFFFFF"/>
                </a:solidFill>
              </a:rPr>
              <a:t>Key algorithms in unsupervised learning encompass k-means and hierarchical clustering, principal component analysis (PCA), dimensionality reduction methods such as t-SNE, and association rule learning for uncovering variable relationships. In essence, unsupervised learning is a versatile approach within the realm of machine learning, adept at exploring data without explicit guidance.</a:t>
            </a:r>
          </a:p>
        </p:txBody>
      </p:sp>
    </p:spTree>
    <p:extLst>
      <p:ext uri="{BB962C8B-B14F-4D97-AF65-F5344CB8AC3E}">
        <p14:creationId xmlns:p14="http://schemas.microsoft.com/office/powerpoint/2010/main" val="3525546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GB"/>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GB"/>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GB"/>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GB"/>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GB"/>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GB"/>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GB"/>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GB"/>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GB"/>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DF9C71-825F-B631-B8CC-6764D69C561F}"/>
              </a:ext>
            </a:extLst>
          </p:cNvPr>
          <p:cNvSpPr>
            <a:spLocks noGrp="1"/>
          </p:cNvSpPr>
          <p:nvPr>
            <p:ph type="title"/>
          </p:nvPr>
        </p:nvSpPr>
        <p:spPr>
          <a:xfrm>
            <a:off x="1577445" y="1168078"/>
            <a:ext cx="9048219" cy="1092200"/>
          </a:xfrm>
        </p:spPr>
        <p:txBody>
          <a:bodyPr anchor="ctr">
            <a:normAutofit/>
          </a:bodyPr>
          <a:lstStyle/>
          <a:p>
            <a:pPr algn="ctr"/>
            <a:r>
              <a:rPr lang="en-GB">
                <a:solidFill>
                  <a:srgbClr val="FFFFFF"/>
                </a:solidFill>
              </a:rPr>
              <a:t>Summary</a:t>
            </a:r>
          </a:p>
        </p:txBody>
      </p:sp>
      <p:sp>
        <p:nvSpPr>
          <p:cNvPr id="3" name="Content Placeholder 2">
            <a:extLst>
              <a:ext uri="{FF2B5EF4-FFF2-40B4-BE49-F238E27FC236}">
                <a16:creationId xmlns:a16="http://schemas.microsoft.com/office/drawing/2014/main" id="{AD0D137C-6EF2-10D5-EB36-16184A5FFCD3}"/>
              </a:ext>
            </a:extLst>
          </p:cNvPr>
          <p:cNvSpPr>
            <a:spLocks noGrp="1"/>
          </p:cNvSpPr>
          <p:nvPr>
            <p:ph idx="1"/>
          </p:nvPr>
        </p:nvSpPr>
        <p:spPr>
          <a:xfrm>
            <a:off x="1577446" y="2413001"/>
            <a:ext cx="9048218" cy="3033180"/>
          </a:xfrm>
        </p:spPr>
        <p:txBody>
          <a:bodyPr anchor="ctr">
            <a:normAutofit/>
          </a:bodyPr>
          <a:lstStyle/>
          <a:p>
            <a:pPr marL="0" indent="0">
              <a:buNone/>
            </a:pPr>
            <a:r>
              <a:rPr lang="en-GB" sz="2000">
                <a:solidFill>
                  <a:srgbClr val="FFFFFF"/>
                </a:solidFill>
              </a:rPr>
              <a:t>This approach plays a vital role in comprehending intricate data patterns, proving instrumental in various real-world scenarios, particularly when labelled data is limited or absent. It is instrumental in many machine learning applications, particularly those involving data exploration and unsupervised data analysis.</a:t>
            </a:r>
          </a:p>
        </p:txBody>
      </p:sp>
    </p:spTree>
    <p:extLst>
      <p:ext uri="{BB962C8B-B14F-4D97-AF65-F5344CB8AC3E}">
        <p14:creationId xmlns:p14="http://schemas.microsoft.com/office/powerpoint/2010/main" val="18361756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42</TotalTime>
  <Words>915</Words>
  <Application>Microsoft Office PowerPoint</Application>
  <PresentationFormat>Widescreen</PresentationFormat>
  <Paragraphs>39</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Tw Cen MT</vt:lpstr>
      <vt:lpstr>Circuit</vt:lpstr>
      <vt:lpstr>Unsupervised Learning</vt:lpstr>
      <vt:lpstr>Unsupervised Learning</vt:lpstr>
      <vt:lpstr>PowerPoint Presentation</vt:lpstr>
      <vt:lpstr>No Labelled Data</vt:lpstr>
      <vt:lpstr>Algorithms</vt:lpstr>
      <vt:lpstr>Dimensionality Reduction</vt:lpstr>
      <vt:lpstr>Dimensionality Reduction</vt:lpstr>
      <vt:lpstr>Pattern Discovery</vt:lpstr>
      <vt:lpstr>Clustering</vt:lpstr>
      <vt:lpstr>Applications of Unsupervised Learning</vt:lpstr>
      <vt:lpstr>Anomaly Detection</vt:lpstr>
      <vt:lpstr>Anomaly Detection</vt:lpstr>
      <vt:lpstr>Customer Segmentation and Behavioural Analysis</vt:lpstr>
      <vt:lpstr>Recommendation Systems</vt:lpstr>
      <vt:lpstr>Image and Video Data Compression</vt:lpstr>
      <vt:lpstr>Natural Language Processing (NLP)</vt:lpstr>
      <vt:lpstr>Summary</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dc:title>
  <dc:creator>Aram Saeed</dc:creator>
  <cp:lastModifiedBy>Venkata Gaddam</cp:lastModifiedBy>
  <cp:revision>4</cp:revision>
  <dcterms:created xsi:type="dcterms:W3CDTF">2023-10-12T11:21:07Z</dcterms:created>
  <dcterms:modified xsi:type="dcterms:W3CDTF">2026-06-08T03:20:13Z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509429c-126f-4246-870e-ddae2f3647a6_Enabled">
    <vt:lpwstr>true</vt:lpwstr>
  </property>
  <property fmtid="{D5CDD505-2E9C-101B-9397-08002B2CF9AE}" pid="3" name="MSIP_Label_2509429c-126f-4246-870e-ddae2f3647a6_SetDate">
    <vt:lpwstr>2026-06-08T03:20:13Z</vt:lpwstr>
  </property>
  <property fmtid="{D5CDD505-2E9C-101B-9397-08002B2CF9AE}" pid="4" name="MSIP_Label_2509429c-126f-4246-870e-ddae2f3647a6_Method">
    <vt:lpwstr>Standard</vt:lpwstr>
  </property>
  <property fmtid="{D5CDD505-2E9C-101B-9397-08002B2CF9AE}" pid="5" name="MSIP_Label_2509429c-126f-4246-870e-ddae2f3647a6_Name">
    <vt:lpwstr>General</vt:lpwstr>
  </property>
  <property fmtid="{D5CDD505-2E9C-101B-9397-08002B2CF9AE}" pid="6" name="MSIP_Label_2509429c-126f-4246-870e-ddae2f3647a6_SiteId">
    <vt:lpwstr>3539451e-b46e-4a26-a242-ff61502855c7</vt:lpwstr>
  </property>
  <property fmtid="{D5CDD505-2E9C-101B-9397-08002B2CF9AE}" pid="7" name="MSIP_Label_2509429c-126f-4246-870e-ddae2f3647a6_ActionId">
    <vt:lpwstr>30db4796-983b-4fb7-9e54-200c2ec58f3a</vt:lpwstr>
  </property>
  <property fmtid="{D5CDD505-2E9C-101B-9397-08002B2CF9AE}" pid="8" name="MSIP_Label_2509429c-126f-4246-870e-ddae2f3647a6_ContentBits">
    <vt:lpwstr>0</vt:lpwstr>
  </property>
  <property fmtid="{D5CDD505-2E9C-101B-9397-08002B2CF9AE}" pid="9" name="MSIP_Label_2509429c-126f-4246-870e-ddae2f3647a6_Tag">
    <vt:lpwstr>10, 3, 0, 1</vt:lpwstr>
  </property>
</Properties>
</file>