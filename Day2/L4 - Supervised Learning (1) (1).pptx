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BFC4D62F-9D11-4594-AB3F-C69120D329C9}" type="datetimeFigureOut">
              <a:rPr lang="en-GB" smtClean="0"/>
              <a:t>29/10/2024</a:t>
            </a:fld>
            <a:endParaRPr lang="en-GB"/>
          </a:p>
        </p:txBody>
      </p:sp>
      <p:sp>
        <p:nvSpPr>
          <p:cNvPr id="5" name="Footer Placeholder 4"/>
          <p:cNvSpPr>
            <a:spLocks noGrp="1"/>
          </p:cNvSpPr>
          <p:nvPr>
            <p:ph type="ftr" sz="quarter" idx="11"/>
          </p:nvPr>
        </p:nvSpPr>
        <p:spPr>
          <a:xfrm>
            <a:off x="1876424" y="5410201"/>
            <a:ext cx="5124886" cy="365125"/>
          </a:xfrm>
        </p:spPr>
        <p:txBody>
          <a:bodyPr/>
          <a:lstStyle/>
          <a:p>
            <a:endParaRPr lang="en-GB"/>
          </a:p>
        </p:txBody>
      </p:sp>
      <p:sp>
        <p:nvSpPr>
          <p:cNvPr id="6" name="Slide Number Placeholder 5"/>
          <p:cNvSpPr>
            <a:spLocks noGrp="1"/>
          </p:cNvSpPr>
          <p:nvPr>
            <p:ph type="sldNum" sz="quarter" idx="12"/>
          </p:nvPr>
        </p:nvSpPr>
        <p:spPr>
          <a:xfrm>
            <a:off x="9896911" y="5410199"/>
            <a:ext cx="771089" cy="365125"/>
          </a:xfrm>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3857896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C4D62F-9D11-4594-AB3F-C69120D329C9}" type="datetimeFigureOut">
              <a:rPr lang="en-GB" smtClean="0"/>
              <a:t>29/10/2024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4053620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C4D62F-9D11-4594-AB3F-C69120D329C9}" type="datetimeFigureOut">
              <a:rPr lang="en-GB" smtClean="0"/>
              <a:t>29/10/2024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342152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C4D62F-9D11-4594-AB3F-C69120D329C9}" type="datetimeFigureOut">
              <a:rPr lang="en-GB" smtClean="0"/>
              <a:t>29/10/2024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1523410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C4D62F-9D11-4594-AB3F-C69120D329C9}" type="datetimeFigureOut">
              <a:rPr lang="en-GB" smtClean="0"/>
              <a:t>29/10/2024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1832068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C4D62F-9D11-4594-AB3F-C69120D329C9}" type="datetimeFigureOut">
              <a:rPr lang="en-GB" smtClean="0"/>
              <a:t>29/10/2024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2376521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C4D62F-9D11-4594-AB3F-C69120D329C9}" type="datetimeFigureOut">
              <a:rPr lang="en-GB" smtClean="0"/>
              <a:t>29/10/2024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1881542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C4D62F-9D11-4594-AB3F-C69120D329C9}" type="datetimeFigureOut">
              <a:rPr lang="en-GB" smtClean="0"/>
              <a:t>29/10/2024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3412211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C4D62F-9D11-4594-AB3F-C69120D329C9}" type="datetimeFigureOut">
              <a:rPr lang="en-GB" smtClean="0"/>
              <a:t>29/10/2024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913037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C4D62F-9D11-4594-AB3F-C69120D329C9}" type="datetimeFigureOut">
              <a:rPr lang="en-GB" smtClean="0"/>
              <a:t>29/10/2024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2334999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C4D62F-9D11-4594-AB3F-C69120D329C9}" type="datetimeFigureOut">
              <a:rPr lang="en-GB" smtClean="0"/>
              <a:t>29/10/2024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1587457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C4D62F-9D11-4594-AB3F-C69120D329C9}" type="datetimeFigureOut">
              <a:rPr lang="en-GB" smtClean="0"/>
              <a:t>29/10/2024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98183C1-2D24-4EAE-93AC-D19F0954C944}" type="slidenum">
              <a:rPr lang="en-GB" smtClean="0"/>
              <a:t>‹#›</a:t>
            </a:fld>
            <a:endParaRPr lang="en-GB"/>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91364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C4D62F-9D11-4594-AB3F-C69120D329C9}" type="datetimeFigureOut">
              <a:rPr lang="en-GB" smtClean="0"/>
              <a:t>29/10/2024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3034134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FC4D62F-9D11-4594-AB3F-C69120D329C9}" type="datetimeFigureOut">
              <a:rPr lang="en-GB" smtClean="0"/>
              <a:t>29/10/2024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1210640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FC4D62F-9D11-4594-AB3F-C69120D329C9}" type="datetimeFigureOut">
              <a:rPr lang="en-GB" smtClean="0"/>
              <a:t>29/10/2024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494783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C4D62F-9D11-4594-AB3F-C69120D329C9}" type="datetimeFigureOut">
              <a:rPr lang="en-GB" smtClean="0"/>
              <a:t>29/10/2024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38503132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C4D62F-9D11-4594-AB3F-C69120D329C9}" type="datetimeFigureOut">
              <a:rPr lang="en-GB" smtClean="0"/>
              <a:t>29/10/2024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98183C1-2D24-4EAE-93AC-D19F0954C944}" type="slidenum">
              <a:rPr lang="en-GB" smtClean="0"/>
              <a:t>‹#›</a:t>
            </a:fld>
            <a:endParaRPr lang="en-GB"/>
          </a:p>
        </p:txBody>
      </p:sp>
    </p:spTree>
    <p:extLst>
      <p:ext uri="{BB962C8B-B14F-4D97-AF65-F5344CB8AC3E}">
        <p14:creationId xmlns:p14="http://schemas.microsoft.com/office/powerpoint/2010/main" val="3828621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FC4D62F-9D11-4594-AB3F-C69120D329C9}" type="datetimeFigureOut">
              <a:rPr lang="en-GB" smtClean="0"/>
              <a:t>29/10/2024</a:t>
            </a:fld>
            <a:endParaRPr lang="en-GB"/>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98183C1-2D24-4EAE-93AC-D19F0954C944}" type="slidenum">
              <a:rPr lang="en-GB" smtClean="0"/>
              <a:t>‹#›</a:t>
            </a:fld>
            <a:endParaRPr lang="en-GB"/>
          </a:p>
        </p:txBody>
      </p:sp>
    </p:spTree>
    <p:extLst>
      <p:ext uri="{BB962C8B-B14F-4D97-AF65-F5344CB8AC3E}">
        <p14:creationId xmlns:p14="http://schemas.microsoft.com/office/powerpoint/2010/main" val="253894995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655B7-46C7-F562-6A17-4211ECE5AE15}"/>
              </a:ext>
            </a:extLst>
          </p:cNvPr>
          <p:cNvSpPr>
            <a:spLocks noGrp="1"/>
          </p:cNvSpPr>
          <p:nvPr>
            <p:ph type="ctrTitle"/>
          </p:nvPr>
        </p:nvSpPr>
        <p:spPr>
          <a:xfrm>
            <a:off x="2781808" y="2890259"/>
            <a:ext cx="6628384" cy="1077481"/>
          </a:xfrm>
        </p:spPr>
        <p:txBody>
          <a:bodyPr/>
          <a:lstStyle/>
          <a:p>
            <a:r>
              <a:rPr lang="en-GB" dirty="0">
                <a:effectLst/>
              </a:rPr>
              <a:t>Supervised Learning</a:t>
            </a:r>
            <a:endParaRPr lang="en-GB" dirty="0"/>
          </a:p>
        </p:txBody>
      </p:sp>
      <p:sp>
        <p:nvSpPr>
          <p:cNvPr id="3" name="Subtitle 2">
            <a:extLst>
              <a:ext uri="{FF2B5EF4-FFF2-40B4-BE49-F238E27FC236}">
                <a16:creationId xmlns:a16="http://schemas.microsoft.com/office/drawing/2014/main" id="{CA78291E-FE01-B293-9888-1D3349EA3936}"/>
              </a:ext>
            </a:extLst>
          </p:cNvPr>
          <p:cNvSpPr>
            <a:spLocks noGrp="1"/>
          </p:cNvSpPr>
          <p:nvPr>
            <p:ph type="subTitle" idx="1"/>
          </p:nvPr>
        </p:nvSpPr>
        <p:spPr>
          <a:xfrm>
            <a:off x="8806649" y="6027937"/>
            <a:ext cx="2047781" cy="514906"/>
          </a:xfrm>
        </p:spPr>
        <p:txBody>
          <a:bodyPr>
            <a:normAutofit/>
          </a:bodyPr>
          <a:lstStyle/>
          <a:p>
            <a:r>
              <a:rPr lang="en-GB" dirty="0"/>
              <a:t>Aram Saeed</a:t>
            </a:r>
          </a:p>
        </p:txBody>
      </p:sp>
    </p:spTree>
    <p:extLst>
      <p:ext uri="{BB962C8B-B14F-4D97-AF65-F5344CB8AC3E}">
        <p14:creationId xmlns:p14="http://schemas.microsoft.com/office/powerpoint/2010/main" val="1341248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FCB76-B0BC-8AC6-339F-62C9A0E964AC}"/>
              </a:ext>
            </a:extLst>
          </p:cNvPr>
          <p:cNvSpPr>
            <a:spLocks noGrp="1"/>
          </p:cNvSpPr>
          <p:nvPr>
            <p:ph type="title"/>
          </p:nvPr>
        </p:nvSpPr>
        <p:spPr/>
        <p:txBody>
          <a:bodyPr/>
          <a:lstStyle/>
          <a:p>
            <a:r>
              <a:rPr lang="en-GB" dirty="0"/>
              <a:t>Supervised learning</a:t>
            </a:r>
          </a:p>
        </p:txBody>
      </p:sp>
      <p:sp>
        <p:nvSpPr>
          <p:cNvPr id="3" name="Content Placeholder 2">
            <a:extLst>
              <a:ext uri="{FF2B5EF4-FFF2-40B4-BE49-F238E27FC236}">
                <a16:creationId xmlns:a16="http://schemas.microsoft.com/office/drawing/2014/main" id="{3664B02C-1ED9-144C-4D7C-1C8FC2FB0685}"/>
              </a:ext>
            </a:extLst>
          </p:cNvPr>
          <p:cNvSpPr>
            <a:spLocks noGrp="1"/>
          </p:cNvSpPr>
          <p:nvPr>
            <p:ph idx="1"/>
          </p:nvPr>
        </p:nvSpPr>
        <p:spPr>
          <a:xfrm>
            <a:off x="1141413" y="1929891"/>
            <a:ext cx="9905999" cy="3541714"/>
          </a:xfrm>
        </p:spPr>
        <p:txBody>
          <a:bodyPr>
            <a:noAutofit/>
          </a:bodyPr>
          <a:lstStyle/>
          <a:p>
            <a:pPr marL="0" indent="0" algn="just">
              <a:buNone/>
            </a:pPr>
            <a:r>
              <a:rPr lang="en-GB" sz="2800" dirty="0"/>
              <a:t>Supervised learning is a type of machine learning paradigm where an algorithm learns from labelled training data to make predictions or decisions without human intervention. It is one of the most common and widely used approaches in machine learning. In supervised learning, the algorithm is provided with a dataset consisting of input-output pairs, where the input (also called features) is a set of variables or attributes, and the output (also called labels or target) is the desired prediction or classification.</a:t>
            </a:r>
          </a:p>
          <a:p>
            <a:pPr marL="0" indent="0" algn="just">
              <a:buNone/>
            </a:pPr>
            <a:endParaRPr lang="en-GB" sz="2800" dirty="0"/>
          </a:p>
        </p:txBody>
      </p:sp>
    </p:spTree>
    <p:extLst>
      <p:ext uri="{BB962C8B-B14F-4D97-AF65-F5344CB8AC3E}">
        <p14:creationId xmlns:p14="http://schemas.microsoft.com/office/powerpoint/2010/main" val="1833978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ecision Trees for Classification: A Machine Learning Algorithm | Xoriant">
            <a:extLst>
              <a:ext uri="{FF2B5EF4-FFF2-40B4-BE49-F238E27FC236}">
                <a16:creationId xmlns:a16="http://schemas.microsoft.com/office/drawing/2014/main" id="{E2B083EF-F1D3-E991-F60C-2B4A794D70C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3363" y="653143"/>
            <a:ext cx="7147249" cy="5271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2610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C28C6-FC91-9C46-723C-536F9D6AFA56}"/>
              </a:ext>
            </a:extLst>
          </p:cNvPr>
          <p:cNvSpPr>
            <a:spLocks noGrp="1"/>
          </p:cNvSpPr>
          <p:nvPr>
            <p:ph type="title"/>
          </p:nvPr>
        </p:nvSpPr>
        <p:spPr>
          <a:xfrm>
            <a:off x="1141412" y="338829"/>
            <a:ext cx="9905998" cy="1030289"/>
          </a:xfrm>
        </p:spPr>
        <p:txBody>
          <a:bodyPr>
            <a:normAutofit/>
          </a:bodyPr>
          <a:lstStyle/>
          <a:p>
            <a:r>
              <a:rPr lang="en-GB" dirty="0"/>
              <a:t>Supervised learning can be categorised</a:t>
            </a:r>
          </a:p>
        </p:txBody>
      </p:sp>
      <p:sp>
        <p:nvSpPr>
          <p:cNvPr id="3" name="Content Placeholder 2">
            <a:extLst>
              <a:ext uri="{FF2B5EF4-FFF2-40B4-BE49-F238E27FC236}">
                <a16:creationId xmlns:a16="http://schemas.microsoft.com/office/drawing/2014/main" id="{5AC9BC24-FBAA-6AC3-6921-CC5144A5F649}"/>
              </a:ext>
            </a:extLst>
          </p:cNvPr>
          <p:cNvSpPr>
            <a:spLocks noGrp="1"/>
          </p:cNvSpPr>
          <p:nvPr>
            <p:ph idx="1"/>
          </p:nvPr>
        </p:nvSpPr>
        <p:spPr>
          <a:xfrm>
            <a:off x="729448" y="1446580"/>
            <a:ext cx="10733103" cy="4465948"/>
          </a:xfrm>
        </p:spPr>
        <p:txBody>
          <a:bodyPr>
            <a:noAutofit/>
          </a:bodyPr>
          <a:lstStyle/>
          <a:p>
            <a:pPr marL="0" indent="0" algn="just">
              <a:buNone/>
            </a:pPr>
            <a:r>
              <a:rPr lang="en-GB" dirty="0"/>
              <a:t>Classification: In classification, the goal is to predict a discrete label or category for each input. For example, spam email detection, image classification (e.g., recognizing whether an image contains a cat or a dog), and sentiment analysis (predicting whether a text is positive or negative sentiment) are common classification tasks.</a:t>
            </a:r>
          </a:p>
          <a:p>
            <a:pPr marL="0" indent="0" algn="just">
              <a:buNone/>
            </a:pPr>
            <a:endParaRPr lang="en-GB" dirty="0"/>
          </a:p>
          <a:p>
            <a:pPr marL="0" indent="0" algn="just">
              <a:buNone/>
            </a:pPr>
            <a:r>
              <a:rPr lang="en-GB" dirty="0"/>
              <a:t>Regression: In regression, the goal is to predict a continuous numerical value or quantity. Examples include predicting house prices based on features like size and location, forecasting stock prices, and estimating the age of a person based on various attributes.</a:t>
            </a:r>
          </a:p>
          <a:p>
            <a:pPr marL="0" indent="0" algn="just">
              <a:buNone/>
            </a:pPr>
            <a:endParaRPr lang="en-GB" dirty="0"/>
          </a:p>
          <a:p>
            <a:pPr marL="0" indent="0" algn="just">
              <a:buNone/>
            </a:pPr>
            <a:endParaRPr lang="en-GB" dirty="0"/>
          </a:p>
        </p:txBody>
      </p:sp>
    </p:spTree>
    <p:extLst>
      <p:ext uri="{BB962C8B-B14F-4D97-AF65-F5344CB8AC3E}">
        <p14:creationId xmlns:p14="http://schemas.microsoft.com/office/powerpoint/2010/main" val="4175794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45D4B-C5B9-CA36-A8E9-FFD23BCCEC6D}"/>
              </a:ext>
            </a:extLst>
          </p:cNvPr>
          <p:cNvSpPr>
            <a:spLocks noGrp="1"/>
          </p:cNvSpPr>
          <p:nvPr>
            <p:ph type="title"/>
          </p:nvPr>
        </p:nvSpPr>
        <p:spPr/>
        <p:txBody>
          <a:bodyPr/>
          <a:lstStyle/>
          <a:p>
            <a:r>
              <a:rPr lang="en-GB" dirty="0"/>
              <a:t>Supervised learning</a:t>
            </a:r>
          </a:p>
        </p:txBody>
      </p:sp>
      <p:sp>
        <p:nvSpPr>
          <p:cNvPr id="3" name="Content Placeholder 2">
            <a:extLst>
              <a:ext uri="{FF2B5EF4-FFF2-40B4-BE49-F238E27FC236}">
                <a16:creationId xmlns:a16="http://schemas.microsoft.com/office/drawing/2014/main" id="{6F6834C8-D4FB-077D-298B-6E5952F2302A}"/>
              </a:ext>
            </a:extLst>
          </p:cNvPr>
          <p:cNvSpPr>
            <a:spLocks noGrp="1"/>
          </p:cNvSpPr>
          <p:nvPr>
            <p:ph idx="1"/>
          </p:nvPr>
        </p:nvSpPr>
        <p:spPr>
          <a:xfrm>
            <a:off x="1141413" y="2540167"/>
            <a:ext cx="9905999" cy="2375779"/>
          </a:xfrm>
        </p:spPr>
        <p:txBody>
          <a:bodyPr>
            <a:normAutofit/>
          </a:bodyPr>
          <a:lstStyle/>
          <a:p>
            <a:pPr marL="0" indent="0" algn="just">
              <a:buNone/>
            </a:pPr>
            <a:r>
              <a:rPr lang="en-GB" sz="2800" dirty="0"/>
              <a:t>Supervised learning has applications in various domains, including healthcare, finance, natural language processing, image recognition, and more. It forms the foundation for many machine learning and artificial intelligence applications.</a:t>
            </a:r>
          </a:p>
          <a:p>
            <a:pPr marL="0" indent="0" algn="just">
              <a:buNone/>
            </a:pPr>
            <a:endParaRPr lang="en-GB" sz="2800" dirty="0"/>
          </a:p>
        </p:txBody>
      </p:sp>
    </p:spTree>
    <p:extLst>
      <p:ext uri="{BB962C8B-B14F-4D97-AF65-F5344CB8AC3E}">
        <p14:creationId xmlns:p14="http://schemas.microsoft.com/office/powerpoint/2010/main" val="3948028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4193-91A1-2914-7FF1-8348A8F2D0A7}"/>
              </a:ext>
            </a:extLst>
          </p:cNvPr>
          <p:cNvSpPr>
            <a:spLocks noGrp="1"/>
          </p:cNvSpPr>
          <p:nvPr>
            <p:ph type="title"/>
          </p:nvPr>
        </p:nvSpPr>
        <p:spPr/>
        <p:txBody>
          <a:bodyPr>
            <a:normAutofit/>
          </a:bodyPr>
          <a:lstStyle/>
          <a:p>
            <a:r>
              <a:rPr lang="en-GB" dirty="0"/>
              <a:t>steps involved in supervised learning:</a:t>
            </a:r>
          </a:p>
        </p:txBody>
      </p:sp>
      <p:sp>
        <p:nvSpPr>
          <p:cNvPr id="3" name="Content Placeholder 2">
            <a:extLst>
              <a:ext uri="{FF2B5EF4-FFF2-40B4-BE49-F238E27FC236}">
                <a16:creationId xmlns:a16="http://schemas.microsoft.com/office/drawing/2014/main" id="{B7DC6CF2-1F2C-4206-2C2D-9779361D5AC0}"/>
              </a:ext>
            </a:extLst>
          </p:cNvPr>
          <p:cNvSpPr>
            <a:spLocks noGrp="1"/>
          </p:cNvSpPr>
          <p:nvPr>
            <p:ph idx="1"/>
          </p:nvPr>
        </p:nvSpPr>
        <p:spPr>
          <a:xfrm>
            <a:off x="1141413" y="2097088"/>
            <a:ext cx="9467404" cy="3541714"/>
          </a:xfrm>
        </p:spPr>
        <p:txBody>
          <a:bodyPr>
            <a:noAutofit/>
          </a:bodyPr>
          <a:lstStyle/>
          <a:p>
            <a:r>
              <a:rPr lang="en-GB" sz="2800" dirty="0"/>
              <a:t>Learning Algorithm</a:t>
            </a:r>
          </a:p>
          <a:p>
            <a:r>
              <a:rPr lang="en-GB" sz="2800" dirty="0"/>
              <a:t>Training Data</a:t>
            </a:r>
          </a:p>
          <a:p>
            <a:r>
              <a:rPr lang="en-GB" sz="2800" dirty="0"/>
              <a:t>Model Building</a:t>
            </a:r>
          </a:p>
          <a:p>
            <a:r>
              <a:rPr lang="en-GB" sz="2800" dirty="0"/>
              <a:t>Evaluation</a:t>
            </a:r>
          </a:p>
          <a:p>
            <a:r>
              <a:rPr lang="en-GB" sz="2800" dirty="0"/>
              <a:t>Fine-Tuning</a:t>
            </a:r>
          </a:p>
          <a:p>
            <a:r>
              <a:rPr lang="en-GB" sz="2800" dirty="0"/>
              <a:t>Deployment</a:t>
            </a:r>
          </a:p>
          <a:p>
            <a:endParaRPr lang="en-GB" sz="2800" dirty="0"/>
          </a:p>
          <a:p>
            <a:endParaRPr lang="en-GB" sz="2800" dirty="0"/>
          </a:p>
        </p:txBody>
      </p:sp>
    </p:spTree>
    <p:extLst>
      <p:ext uri="{BB962C8B-B14F-4D97-AF65-F5344CB8AC3E}">
        <p14:creationId xmlns:p14="http://schemas.microsoft.com/office/powerpoint/2010/main" val="1736694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33575-3B29-46B6-45E2-85A2C274CA5C}"/>
              </a:ext>
            </a:extLst>
          </p:cNvPr>
          <p:cNvSpPr>
            <a:spLocks noGrp="1"/>
          </p:cNvSpPr>
          <p:nvPr>
            <p:ph type="title"/>
          </p:nvPr>
        </p:nvSpPr>
        <p:spPr/>
        <p:txBody>
          <a:bodyPr/>
          <a:lstStyle/>
          <a:p>
            <a:r>
              <a:rPr lang="en-GB" dirty="0"/>
              <a:t>Learning Algorithm</a:t>
            </a:r>
          </a:p>
        </p:txBody>
      </p:sp>
      <p:sp>
        <p:nvSpPr>
          <p:cNvPr id="3" name="Content Placeholder 2">
            <a:extLst>
              <a:ext uri="{FF2B5EF4-FFF2-40B4-BE49-F238E27FC236}">
                <a16:creationId xmlns:a16="http://schemas.microsoft.com/office/drawing/2014/main" id="{CE12B809-FFD1-E879-E246-8094597BAADD}"/>
              </a:ext>
            </a:extLst>
          </p:cNvPr>
          <p:cNvSpPr>
            <a:spLocks noGrp="1"/>
          </p:cNvSpPr>
          <p:nvPr>
            <p:ph idx="1"/>
          </p:nvPr>
        </p:nvSpPr>
        <p:spPr>
          <a:xfrm>
            <a:off x="1143000" y="2347141"/>
            <a:ext cx="9905999" cy="2511426"/>
          </a:xfrm>
        </p:spPr>
        <p:txBody>
          <a:bodyPr>
            <a:normAutofit/>
          </a:bodyPr>
          <a:lstStyle/>
          <a:p>
            <a:pPr marL="0" indent="0" algn="just">
              <a:buNone/>
            </a:pPr>
            <a:r>
              <a:rPr lang="en-GB" sz="2800" dirty="0"/>
              <a:t>Learning Algorithm: The algorithm used for supervised learning learns from the training data by identifying patterns, relationships, or decision boundaries that allow it to make accurate predictions or classifications.</a:t>
            </a:r>
          </a:p>
          <a:p>
            <a:pPr algn="just"/>
            <a:endParaRPr lang="en-GB" sz="2800" dirty="0"/>
          </a:p>
        </p:txBody>
      </p:sp>
    </p:spTree>
    <p:extLst>
      <p:ext uri="{BB962C8B-B14F-4D97-AF65-F5344CB8AC3E}">
        <p14:creationId xmlns:p14="http://schemas.microsoft.com/office/powerpoint/2010/main" val="2102044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20BFA-1466-E772-5347-E0F1CF0FDFD0}"/>
              </a:ext>
            </a:extLst>
          </p:cNvPr>
          <p:cNvSpPr>
            <a:spLocks noGrp="1"/>
          </p:cNvSpPr>
          <p:nvPr>
            <p:ph type="title"/>
          </p:nvPr>
        </p:nvSpPr>
        <p:spPr/>
        <p:txBody>
          <a:bodyPr/>
          <a:lstStyle/>
          <a:p>
            <a:r>
              <a:rPr lang="en-GB" dirty="0"/>
              <a:t>Training Data:</a:t>
            </a:r>
          </a:p>
        </p:txBody>
      </p:sp>
      <p:sp>
        <p:nvSpPr>
          <p:cNvPr id="3" name="Content Placeholder 2">
            <a:extLst>
              <a:ext uri="{FF2B5EF4-FFF2-40B4-BE49-F238E27FC236}">
                <a16:creationId xmlns:a16="http://schemas.microsoft.com/office/drawing/2014/main" id="{77747134-9210-7915-C887-257F86FDC612}"/>
              </a:ext>
            </a:extLst>
          </p:cNvPr>
          <p:cNvSpPr>
            <a:spLocks noGrp="1"/>
          </p:cNvSpPr>
          <p:nvPr>
            <p:ph idx="1"/>
          </p:nvPr>
        </p:nvSpPr>
        <p:spPr>
          <a:xfrm>
            <a:off x="1141412" y="2340746"/>
            <a:ext cx="9905999" cy="2420167"/>
          </a:xfrm>
        </p:spPr>
        <p:txBody>
          <a:bodyPr>
            <a:normAutofit/>
          </a:bodyPr>
          <a:lstStyle/>
          <a:p>
            <a:pPr algn="just"/>
            <a:r>
              <a:rPr lang="en-GB" sz="2800" dirty="0"/>
              <a:t>Training Data: A labelled dataset is provided to the algorithm, consisting of input-output pairs. The training data is used to teach the algorithm to map input features to the corresponding output labels.</a:t>
            </a:r>
          </a:p>
          <a:p>
            <a:pPr algn="just"/>
            <a:endParaRPr lang="en-GB" sz="2800" dirty="0"/>
          </a:p>
          <a:p>
            <a:pPr algn="just"/>
            <a:endParaRPr lang="en-GB" sz="2800" dirty="0"/>
          </a:p>
        </p:txBody>
      </p:sp>
    </p:spTree>
    <p:extLst>
      <p:ext uri="{BB962C8B-B14F-4D97-AF65-F5344CB8AC3E}">
        <p14:creationId xmlns:p14="http://schemas.microsoft.com/office/powerpoint/2010/main" val="4003379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A999-476D-DFBC-229B-7957FAE8DF50}"/>
              </a:ext>
            </a:extLst>
          </p:cNvPr>
          <p:cNvSpPr>
            <a:spLocks noGrp="1"/>
          </p:cNvSpPr>
          <p:nvPr>
            <p:ph type="title"/>
          </p:nvPr>
        </p:nvSpPr>
        <p:spPr/>
        <p:txBody>
          <a:bodyPr/>
          <a:lstStyle/>
          <a:p>
            <a:r>
              <a:rPr lang="en-GB" dirty="0"/>
              <a:t>Model Building</a:t>
            </a:r>
          </a:p>
        </p:txBody>
      </p:sp>
      <p:sp>
        <p:nvSpPr>
          <p:cNvPr id="3" name="Content Placeholder 2">
            <a:extLst>
              <a:ext uri="{FF2B5EF4-FFF2-40B4-BE49-F238E27FC236}">
                <a16:creationId xmlns:a16="http://schemas.microsoft.com/office/drawing/2014/main" id="{5728C089-8E4E-F785-D55A-A63B1C15CF19}"/>
              </a:ext>
            </a:extLst>
          </p:cNvPr>
          <p:cNvSpPr>
            <a:spLocks noGrp="1"/>
          </p:cNvSpPr>
          <p:nvPr>
            <p:ph idx="1"/>
          </p:nvPr>
        </p:nvSpPr>
        <p:spPr>
          <a:xfrm>
            <a:off x="1141411" y="2320509"/>
            <a:ext cx="9905999" cy="3290179"/>
          </a:xfrm>
        </p:spPr>
        <p:txBody>
          <a:bodyPr>
            <a:normAutofit/>
          </a:bodyPr>
          <a:lstStyle/>
          <a:p>
            <a:pPr marL="0" indent="0" algn="just">
              <a:buNone/>
            </a:pPr>
            <a:r>
              <a:rPr lang="en-GB" sz="2800" dirty="0"/>
              <a:t>Model Building: During the training process, the algorithm builds a model that represents the learned relationships between the input features and the output labels. The specific type of model depends on the algorithm used (e.g., decision trees, neural networks, support vector machines, etc.).</a:t>
            </a:r>
          </a:p>
          <a:p>
            <a:pPr algn="just"/>
            <a:endParaRPr lang="en-GB" sz="2800" dirty="0"/>
          </a:p>
        </p:txBody>
      </p:sp>
    </p:spTree>
    <p:extLst>
      <p:ext uri="{BB962C8B-B14F-4D97-AF65-F5344CB8AC3E}">
        <p14:creationId xmlns:p14="http://schemas.microsoft.com/office/powerpoint/2010/main" val="2927705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7BB8-1395-8D4E-A53E-68395B8BF939}"/>
              </a:ext>
            </a:extLst>
          </p:cNvPr>
          <p:cNvSpPr>
            <a:spLocks noGrp="1"/>
          </p:cNvSpPr>
          <p:nvPr>
            <p:ph type="title"/>
          </p:nvPr>
        </p:nvSpPr>
        <p:spPr/>
        <p:txBody>
          <a:bodyPr/>
          <a:lstStyle/>
          <a:p>
            <a:r>
              <a:rPr lang="en-GB" dirty="0"/>
              <a:t>Evaluation</a:t>
            </a:r>
          </a:p>
        </p:txBody>
      </p:sp>
      <p:sp>
        <p:nvSpPr>
          <p:cNvPr id="3" name="Content Placeholder 2">
            <a:extLst>
              <a:ext uri="{FF2B5EF4-FFF2-40B4-BE49-F238E27FC236}">
                <a16:creationId xmlns:a16="http://schemas.microsoft.com/office/drawing/2014/main" id="{66D8EDCF-C087-A385-61BD-80E95035BF21}"/>
              </a:ext>
            </a:extLst>
          </p:cNvPr>
          <p:cNvSpPr>
            <a:spLocks noGrp="1"/>
          </p:cNvSpPr>
          <p:nvPr>
            <p:ph idx="1"/>
          </p:nvPr>
        </p:nvSpPr>
        <p:spPr/>
        <p:txBody>
          <a:bodyPr>
            <a:normAutofit/>
          </a:bodyPr>
          <a:lstStyle/>
          <a:p>
            <a:pPr marL="0" indent="0" algn="just">
              <a:buNone/>
            </a:pPr>
            <a:r>
              <a:rPr lang="en-GB" sz="2800" dirty="0"/>
              <a:t>Evaluation: After training, the model is evaluated using a separate dataset called the validation or test set. The model's performance is assessed by comparing its predictions to the actual labels in the validation/test set. Common evaluation metrics include accuracy, precision, recall, F1 score, and more, depending on the nature of the problem (classification or regression).</a:t>
            </a:r>
          </a:p>
          <a:p>
            <a:pPr algn="just"/>
            <a:endParaRPr lang="en-GB" sz="2800" dirty="0"/>
          </a:p>
        </p:txBody>
      </p:sp>
    </p:spTree>
    <p:extLst>
      <p:ext uri="{BB962C8B-B14F-4D97-AF65-F5344CB8AC3E}">
        <p14:creationId xmlns:p14="http://schemas.microsoft.com/office/powerpoint/2010/main" val="730538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241DE-FEBD-2A87-4B8A-21599B5E1199}"/>
              </a:ext>
            </a:extLst>
          </p:cNvPr>
          <p:cNvSpPr>
            <a:spLocks noGrp="1"/>
          </p:cNvSpPr>
          <p:nvPr>
            <p:ph type="title"/>
          </p:nvPr>
        </p:nvSpPr>
        <p:spPr/>
        <p:txBody>
          <a:bodyPr/>
          <a:lstStyle/>
          <a:p>
            <a:r>
              <a:rPr lang="en-GB" dirty="0"/>
              <a:t>Fine-Tuning</a:t>
            </a:r>
          </a:p>
        </p:txBody>
      </p:sp>
      <p:sp>
        <p:nvSpPr>
          <p:cNvPr id="3" name="Content Placeholder 2">
            <a:extLst>
              <a:ext uri="{FF2B5EF4-FFF2-40B4-BE49-F238E27FC236}">
                <a16:creationId xmlns:a16="http://schemas.microsoft.com/office/drawing/2014/main" id="{060776A7-9F0D-141B-4273-3280C0D1A417}"/>
              </a:ext>
            </a:extLst>
          </p:cNvPr>
          <p:cNvSpPr>
            <a:spLocks noGrp="1"/>
          </p:cNvSpPr>
          <p:nvPr>
            <p:ph idx="1"/>
          </p:nvPr>
        </p:nvSpPr>
        <p:spPr>
          <a:xfrm>
            <a:off x="1141413" y="2472344"/>
            <a:ext cx="9905999" cy="2511426"/>
          </a:xfrm>
        </p:spPr>
        <p:txBody>
          <a:bodyPr>
            <a:normAutofit/>
          </a:bodyPr>
          <a:lstStyle/>
          <a:p>
            <a:pPr marL="0" indent="0" algn="just">
              <a:buNone/>
            </a:pPr>
            <a:r>
              <a:rPr lang="en-GB" sz="2800" dirty="0"/>
              <a:t>Fine-Tuning: Based on the evaluation results, the model may be fine-tuned by adjusting its hyperparameters or optimizing its parameters to improve its performance.</a:t>
            </a:r>
          </a:p>
          <a:p>
            <a:pPr algn="just"/>
            <a:endParaRPr lang="en-GB" sz="2800" dirty="0"/>
          </a:p>
        </p:txBody>
      </p:sp>
    </p:spTree>
    <p:extLst>
      <p:ext uri="{BB962C8B-B14F-4D97-AF65-F5344CB8AC3E}">
        <p14:creationId xmlns:p14="http://schemas.microsoft.com/office/powerpoint/2010/main" val="3060656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DC7CA-D482-68AB-5F71-0D0D46217ED6}"/>
              </a:ext>
            </a:extLst>
          </p:cNvPr>
          <p:cNvSpPr>
            <a:spLocks noGrp="1"/>
          </p:cNvSpPr>
          <p:nvPr>
            <p:ph type="title"/>
          </p:nvPr>
        </p:nvSpPr>
        <p:spPr/>
        <p:txBody>
          <a:bodyPr/>
          <a:lstStyle/>
          <a:p>
            <a:r>
              <a:rPr lang="en-GB" dirty="0"/>
              <a:t>Deployment</a:t>
            </a:r>
          </a:p>
        </p:txBody>
      </p:sp>
      <p:sp>
        <p:nvSpPr>
          <p:cNvPr id="3" name="Content Placeholder 2">
            <a:extLst>
              <a:ext uri="{FF2B5EF4-FFF2-40B4-BE49-F238E27FC236}">
                <a16:creationId xmlns:a16="http://schemas.microsoft.com/office/drawing/2014/main" id="{B6D5A122-A185-820C-F6D6-7CC91D7B0F55}"/>
              </a:ext>
            </a:extLst>
          </p:cNvPr>
          <p:cNvSpPr>
            <a:spLocks noGrp="1"/>
          </p:cNvSpPr>
          <p:nvPr>
            <p:ph idx="1"/>
          </p:nvPr>
        </p:nvSpPr>
        <p:spPr>
          <a:xfrm>
            <a:off x="1141413" y="2373775"/>
            <a:ext cx="9905999" cy="2511426"/>
          </a:xfrm>
        </p:spPr>
        <p:txBody>
          <a:bodyPr>
            <a:normAutofit/>
          </a:bodyPr>
          <a:lstStyle/>
          <a:p>
            <a:pPr marL="0" indent="0" algn="just">
              <a:buNone/>
            </a:pPr>
            <a:r>
              <a:rPr lang="en-GB" sz="2800" dirty="0"/>
              <a:t>Deployment: Once the model performs well on the validation/test set, it can be deployed for making predictions on new, unseen data. In real-world applications, the model takes input data and produces predictions or classifications.</a:t>
            </a:r>
          </a:p>
          <a:p>
            <a:pPr algn="just"/>
            <a:endParaRPr lang="en-GB" sz="2800" dirty="0"/>
          </a:p>
        </p:txBody>
      </p:sp>
    </p:spTree>
    <p:extLst>
      <p:ext uri="{BB962C8B-B14F-4D97-AF65-F5344CB8AC3E}">
        <p14:creationId xmlns:p14="http://schemas.microsoft.com/office/powerpoint/2010/main" val="5393135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89</TotalTime>
  <Words>532</Words>
  <Application>Microsoft Office PowerPoint</Application>
  <PresentationFormat>Widescreen</PresentationFormat>
  <Paragraphs>29</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Tw Cen MT</vt:lpstr>
      <vt:lpstr>Circuit</vt:lpstr>
      <vt:lpstr>Supervised Learning</vt:lpstr>
      <vt:lpstr>Supervised learning</vt:lpstr>
      <vt:lpstr>PowerPoint Presentation</vt:lpstr>
      <vt:lpstr>Supervised learning can be categorised</vt:lpstr>
      <vt:lpstr>Supervised learning</vt:lpstr>
      <vt:lpstr>steps involved in supervised learning:</vt:lpstr>
      <vt:lpstr>Learning Algorithm</vt:lpstr>
      <vt:lpstr>Training Data:</vt:lpstr>
      <vt:lpstr>Model Building</vt:lpstr>
      <vt:lpstr>Evaluation</vt:lpstr>
      <vt:lpstr>Fine-Tuning</vt:lpstr>
      <vt:lpstr>Deployment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dc:title>
  <dc:creator>Aram Saeed</dc:creator>
  <cp:lastModifiedBy>Anuja Talekar</cp:lastModifiedBy>
  <cp:revision>2</cp:revision>
  <dcterms:created xsi:type="dcterms:W3CDTF">2023-10-05T14:57:59Z</dcterms:created>
  <dcterms:modified xsi:type="dcterms:W3CDTF">2024-10-29T10:37:36Z</dcterms:modified>
</cp:coreProperties>
</file>